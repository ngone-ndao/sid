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1" r:id="rId2"/>
    <p:sldId id="321" r:id="rId3"/>
    <p:sldId id="322" r:id="rId4"/>
    <p:sldId id="323" r:id="rId5"/>
    <p:sldId id="324" r:id="rId6"/>
    <p:sldId id="325" r:id="rId7"/>
    <p:sldId id="326" r:id="rId8"/>
    <p:sldId id="327" r:id="rId9"/>
    <p:sldId id="329" r:id="rId10"/>
    <p:sldId id="330" r:id="rId11"/>
    <p:sldId id="331" r:id="rId12"/>
    <p:sldId id="332" r:id="rId13"/>
    <p:sldId id="333" r:id="rId14"/>
    <p:sldId id="334" r:id="rId15"/>
    <p:sldId id="335" r:id="rId16"/>
    <p:sldId id="341" r:id="rId17"/>
    <p:sldId id="337" r:id="rId18"/>
    <p:sldId id="338" r:id="rId19"/>
    <p:sldId id="339" r:id="rId20"/>
    <p:sldId id="340" r:id="rId21"/>
    <p:sldId id="336" r:id="rId22"/>
    <p:sldId id="343" r:id="rId23"/>
    <p:sldId id="344" r:id="rId24"/>
    <p:sldId id="345" r:id="rId25"/>
    <p:sldId id="346" r:id="rId26"/>
    <p:sldId id="300"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339933"/>
    <a:srgbClr val="D79383"/>
    <a:srgbClr val="006600"/>
    <a:srgbClr val="FF66FF"/>
    <a:srgbClr val="1F555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snapToGrid="0">
      <p:cViewPr varScale="1">
        <p:scale>
          <a:sx n="67" d="100"/>
          <a:sy n="67" d="100"/>
        </p:scale>
        <p:origin x="64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F93611-6BEE-4869-9ACF-D1376877171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32ACDA9-DCDF-46A0-864D-880C6F54C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F3D063A-5320-418B-8C0D-4274A8B22C95}"/>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5" name="Espace réservé du pied de page 4">
            <a:extLst>
              <a:ext uri="{FF2B5EF4-FFF2-40B4-BE49-F238E27FC236}">
                <a16:creationId xmlns:a16="http://schemas.microsoft.com/office/drawing/2014/main" id="{D4950FA8-A7B1-471A-AF08-086332539AA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23B4EB7-1556-4419-ABCC-BFCDAC814E5B}"/>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1392748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248961-9E69-4AD7-A923-15E2EE538D5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E121349-A6DE-41E5-A88E-3C9953CDF57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99EF7B-45C5-426F-AD45-C604C8964563}"/>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5" name="Espace réservé du pied de page 4">
            <a:extLst>
              <a:ext uri="{FF2B5EF4-FFF2-40B4-BE49-F238E27FC236}">
                <a16:creationId xmlns:a16="http://schemas.microsoft.com/office/drawing/2014/main" id="{AB3CF15D-FC76-47B7-9855-B8CD3B91D84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2447924-E5A7-4E02-ADED-66EBE3687F09}"/>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4196544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B9586-E0D9-452C-9BF1-7E50BD52956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344E02C-0F57-4994-9A95-BC100BBE93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2584EAA-3909-4C31-BC78-0D6FE22805A1}"/>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5" name="Espace réservé du pied de page 4">
            <a:extLst>
              <a:ext uri="{FF2B5EF4-FFF2-40B4-BE49-F238E27FC236}">
                <a16:creationId xmlns:a16="http://schemas.microsoft.com/office/drawing/2014/main" id="{B19BC4A3-A318-46D1-9136-ED4381E764E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0E512FB-3146-4F19-9701-2889C1261214}"/>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919135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637863-068E-4B3A-A620-5F966E0BBD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11356DA-DD7D-4F0F-812E-61CC94D8572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9DD4449-BB60-4CCC-BBF5-59C5A0ABEA4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C257A06-3A3E-4566-8643-1CFFD372A3AC}"/>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6" name="Espace réservé du pied de page 5">
            <a:extLst>
              <a:ext uri="{FF2B5EF4-FFF2-40B4-BE49-F238E27FC236}">
                <a16:creationId xmlns:a16="http://schemas.microsoft.com/office/drawing/2014/main" id="{404FF56A-5C4D-4881-A64E-46A87CBADEA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DF3BC3F-B141-4C18-A601-B7100C886B1D}"/>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149330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8AEB1D-6B5B-4579-9D79-687276D85B3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71E26E2-5F5C-4463-9E9D-4815BDE4F1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99F5667-061E-41AC-AE73-D419E757873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006990C-D2E2-4145-ABF2-5ECB196B4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278B5D4-938C-4F1A-AB3C-5509C7EA89A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25A6741-DA3D-41A5-A76F-107E1CEA7683}"/>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8" name="Espace réservé du pied de page 7">
            <a:extLst>
              <a:ext uri="{FF2B5EF4-FFF2-40B4-BE49-F238E27FC236}">
                <a16:creationId xmlns:a16="http://schemas.microsoft.com/office/drawing/2014/main" id="{802EE7A7-C3FB-419D-A5CD-96BC5031CC0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E1A837-4A56-44BA-82CC-68C942A1BF2E}"/>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419989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D25417-F412-486F-A32B-C28736A12A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324298C-37B6-4CD2-BAF6-D431E49D33D0}"/>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4" name="Espace réservé du pied de page 3">
            <a:extLst>
              <a:ext uri="{FF2B5EF4-FFF2-40B4-BE49-F238E27FC236}">
                <a16:creationId xmlns:a16="http://schemas.microsoft.com/office/drawing/2014/main" id="{A329700B-B670-47CD-A18D-AEB0895ADA4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B30FFA2-C51F-4911-86F3-FF0A034BC382}"/>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164814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54774FC-4750-442F-A038-E43679D6FBA6}"/>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3" name="Espace réservé du pied de page 2">
            <a:extLst>
              <a:ext uri="{FF2B5EF4-FFF2-40B4-BE49-F238E27FC236}">
                <a16:creationId xmlns:a16="http://schemas.microsoft.com/office/drawing/2014/main" id="{51A3B010-D020-4154-AE9E-FFDBBEFBDB4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E95D7D2-3083-42E0-97E3-73CF67154974}"/>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3467348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F57C68-B290-4145-AEA0-A932FCB1A1B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180773C-97B4-45B0-82CA-E1D6C1983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F45F492-FEF9-4DEE-B9FD-11B3D2914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D0CAFA-2E92-4064-8335-FB701308110F}"/>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6" name="Espace réservé du pied de page 5">
            <a:extLst>
              <a:ext uri="{FF2B5EF4-FFF2-40B4-BE49-F238E27FC236}">
                <a16:creationId xmlns:a16="http://schemas.microsoft.com/office/drawing/2014/main" id="{8B21F053-F10B-43DB-BC9F-C9652C19985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31ABC6F-EA27-4B8A-A07E-B1943252A106}"/>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2805351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52A00F-A396-4908-AB8C-AD624A6C4BD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C4F30C8-8327-4779-8CE9-CE4EAA39F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015070D-9A0E-4C66-848D-32BF13D4B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E5FBF04-05F4-4768-9512-AAB43D33FB50}"/>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6" name="Espace réservé du pied de page 5">
            <a:extLst>
              <a:ext uri="{FF2B5EF4-FFF2-40B4-BE49-F238E27FC236}">
                <a16:creationId xmlns:a16="http://schemas.microsoft.com/office/drawing/2014/main" id="{2A804135-0A18-4D6C-B955-78D7004DCB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49B939E-CA3F-451A-98B2-6CC3A1EBE1D0}"/>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536811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4F6E7F-FA78-45C7-A700-C08DBC008D8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41EED59-FE92-4E2D-8C62-D0F98548439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2CAE3A9-3E0B-4190-A025-AB67ACB204E0}"/>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5" name="Espace réservé du pied de page 4">
            <a:extLst>
              <a:ext uri="{FF2B5EF4-FFF2-40B4-BE49-F238E27FC236}">
                <a16:creationId xmlns:a16="http://schemas.microsoft.com/office/drawing/2014/main" id="{FD05E412-87BA-4332-A99B-F70DEAA220F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270448A-5D26-4DB2-A8C5-804C12EBBEF0}"/>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2455525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029B240-9327-4B93-A847-A83393287DD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032C800-D142-42AE-AA69-DCB444094EB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3F7119C-BE74-4E59-8766-338BD177AAD1}"/>
              </a:ext>
            </a:extLst>
          </p:cNvPr>
          <p:cNvSpPr>
            <a:spLocks noGrp="1"/>
          </p:cNvSpPr>
          <p:nvPr>
            <p:ph type="dt" sz="half" idx="10"/>
          </p:nvPr>
        </p:nvSpPr>
        <p:spPr/>
        <p:txBody>
          <a:bodyPr/>
          <a:lstStyle/>
          <a:p>
            <a:fld id="{66036A27-23CC-422E-9BAF-B10A4F84FF45}" type="datetimeFigureOut">
              <a:rPr lang="fr-FR" smtClean="0"/>
              <a:t>31/10/2025</a:t>
            </a:fld>
            <a:endParaRPr lang="fr-FR"/>
          </a:p>
        </p:txBody>
      </p:sp>
      <p:sp>
        <p:nvSpPr>
          <p:cNvPr id="5" name="Espace réservé du pied de page 4">
            <a:extLst>
              <a:ext uri="{FF2B5EF4-FFF2-40B4-BE49-F238E27FC236}">
                <a16:creationId xmlns:a16="http://schemas.microsoft.com/office/drawing/2014/main" id="{2C0F457C-911F-4D02-AE79-35386DFA3E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D5EAB17-3B89-4524-B326-20FA0F8D300E}"/>
              </a:ext>
            </a:extLst>
          </p:cNvPr>
          <p:cNvSpPr>
            <a:spLocks noGrp="1"/>
          </p:cNvSpPr>
          <p:nvPr>
            <p:ph type="sldNum" sz="quarter" idx="12"/>
          </p:nvPr>
        </p:nvSpPr>
        <p:spPr/>
        <p:txBody>
          <a:bodyPr/>
          <a:lstStyle/>
          <a:p>
            <a:fld id="{972C5212-D28F-483E-BB44-55695DCF96BF}" type="slidenum">
              <a:rPr lang="fr-FR" smtClean="0"/>
              <a:t>‹N°›</a:t>
            </a:fld>
            <a:endParaRPr lang="fr-FR"/>
          </a:p>
        </p:txBody>
      </p:sp>
    </p:spTree>
    <p:extLst>
      <p:ext uri="{BB962C8B-B14F-4D97-AF65-F5344CB8AC3E}">
        <p14:creationId xmlns:p14="http://schemas.microsoft.com/office/powerpoint/2010/main" val="1759920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9AB9BA7-5327-4B62-9AB0-8D04D48FB6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F1415EC-99B0-4EB6-ADC3-ABA08BBE84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A67ED6-BB86-4583-9AA1-2E0C8D040F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036A27-23CC-422E-9BAF-B10A4F84FF45}" type="datetimeFigureOut">
              <a:rPr lang="fr-FR" smtClean="0"/>
              <a:t>31/10/2025</a:t>
            </a:fld>
            <a:endParaRPr lang="fr-FR"/>
          </a:p>
        </p:txBody>
      </p:sp>
      <p:sp>
        <p:nvSpPr>
          <p:cNvPr id="5" name="Espace réservé du pied de page 4">
            <a:extLst>
              <a:ext uri="{FF2B5EF4-FFF2-40B4-BE49-F238E27FC236}">
                <a16:creationId xmlns:a16="http://schemas.microsoft.com/office/drawing/2014/main" id="{4DFE3C40-3D00-4576-9578-ECD33F68D5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67D560D-DE72-4914-AB69-C50C20E059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2C5212-D28F-483E-BB44-55695DCF96BF}" type="slidenum">
              <a:rPr lang="fr-FR" smtClean="0"/>
              <a:t>‹N°›</a:t>
            </a:fld>
            <a:endParaRPr lang="fr-FR"/>
          </a:p>
        </p:txBody>
      </p:sp>
    </p:spTree>
    <p:extLst>
      <p:ext uri="{BB962C8B-B14F-4D97-AF65-F5344CB8AC3E}">
        <p14:creationId xmlns:p14="http://schemas.microsoft.com/office/powerpoint/2010/main" val="775394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git-scm.com/install/windows"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16" name="Groupe 15">
            <a:extLst>
              <a:ext uri="{FF2B5EF4-FFF2-40B4-BE49-F238E27FC236}">
                <a16:creationId xmlns:a16="http://schemas.microsoft.com/office/drawing/2014/main" id="{67DD6353-4D62-40B2-918B-55D89C60EAA2}"/>
              </a:ext>
            </a:extLst>
          </p:cNvPr>
          <p:cNvGrpSpPr/>
          <p:nvPr/>
        </p:nvGrpSpPr>
        <p:grpSpPr>
          <a:xfrm>
            <a:off x="2534581" y="720137"/>
            <a:ext cx="7122838" cy="1273823"/>
            <a:chOff x="0" y="0"/>
            <a:chExt cx="6699250" cy="895350"/>
          </a:xfrm>
        </p:grpSpPr>
        <p:sp>
          <p:nvSpPr>
            <p:cNvPr id="17" name="Rectangle : coins arrondis 16">
              <a:extLst>
                <a:ext uri="{FF2B5EF4-FFF2-40B4-BE49-F238E27FC236}">
                  <a16:creationId xmlns:a16="http://schemas.microsoft.com/office/drawing/2014/main" id="{E64093FB-7110-4BCB-98D8-E08E88573DA4}"/>
                </a:ext>
              </a:extLst>
            </p:cNvPr>
            <p:cNvSpPr/>
            <p:nvPr/>
          </p:nvSpPr>
          <p:spPr>
            <a:xfrm>
              <a:off x="0" y="0"/>
              <a:ext cx="6699250" cy="895350"/>
            </a:xfrm>
            <a:prstGeom prst="roundRect">
              <a:avLst/>
            </a:prstGeom>
            <a:solidFill>
              <a:schemeClr val="bg1">
                <a:lumMod val="95000"/>
              </a:schemeClr>
            </a:solidFill>
            <a:ln>
              <a:solidFill>
                <a:schemeClr val="bg1">
                  <a:lumMod val="65000"/>
                </a:schemeClr>
              </a:solidFill>
            </a:ln>
            <a:effectLst>
              <a:outerShdw dist="1143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18" name="Zone de texte 120">
              <a:extLst>
                <a:ext uri="{FF2B5EF4-FFF2-40B4-BE49-F238E27FC236}">
                  <a16:creationId xmlns:a16="http://schemas.microsoft.com/office/drawing/2014/main" id="{F0848BD4-65C0-4EB4-9708-6EF747B65503}"/>
                </a:ext>
              </a:extLst>
            </p:cNvPr>
            <p:cNvSpPr txBox="1"/>
            <p:nvPr/>
          </p:nvSpPr>
          <p:spPr>
            <a:xfrm>
              <a:off x="152400" y="127000"/>
              <a:ext cx="6413500" cy="6477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4000" b="1" dirty="0">
                  <a:effectLst/>
                  <a:latin typeface="Times New Roman" panose="02020603050405020304" pitchFamily="18" charset="0"/>
                  <a:ea typeface="Calibri" panose="020F0502020204030204" pitchFamily="34" charset="0"/>
                  <a:cs typeface="Times New Roman" panose="02020603050405020304" pitchFamily="18" charset="0"/>
                </a:rPr>
                <a:t>Prise en main de Git/GitHub</a:t>
              </a:r>
              <a:endParaRPr lang="fr-FR" sz="2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 name="ZoneTexte 1">
            <a:extLst>
              <a:ext uri="{FF2B5EF4-FFF2-40B4-BE49-F238E27FC236}">
                <a16:creationId xmlns:a16="http://schemas.microsoft.com/office/drawing/2014/main" id="{02E18093-1809-4975-8BF1-9DFFA4198626}"/>
              </a:ext>
            </a:extLst>
          </p:cNvPr>
          <p:cNvSpPr txBox="1"/>
          <p:nvPr/>
        </p:nvSpPr>
        <p:spPr>
          <a:xfrm>
            <a:off x="233362" y="3093620"/>
            <a:ext cx="11725275" cy="2677656"/>
          </a:xfrm>
          <a:prstGeom prst="rect">
            <a:avLst/>
          </a:prstGeom>
          <a:noFill/>
        </p:spPr>
        <p:txBody>
          <a:bodyPr wrap="square" rtlCol="0">
            <a:spAutoFit/>
          </a:bodyPr>
          <a:lstStyle/>
          <a:p>
            <a:pPr algn="just"/>
            <a:r>
              <a:rPr lang="fr-FR" sz="2800" dirty="0">
                <a:latin typeface="Times New Roman" panose="02020603050405020304" pitchFamily="18" charset="0"/>
                <a:cs typeface="Times New Roman" panose="02020603050405020304" pitchFamily="18" charset="0"/>
              </a:rPr>
              <a:t>Ce support de révision sur les commandes Git et la prise en main de la plateforme GitHub a été proposé par </a:t>
            </a:r>
            <a:r>
              <a:rPr lang="fr-FR" sz="2800">
                <a:latin typeface="Times New Roman" panose="02020603050405020304" pitchFamily="18" charset="0"/>
                <a:cs typeface="Times New Roman" panose="02020603050405020304" pitchFamily="18" charset="0"/>
              </a:rPr>
              <a:t>le </a:t>
            </a:r>
            <a:r>
              <a:rPr lang="fr-FR" sz="2800" b="1" dirty="0">
                <a:latin typeface="Times New Roman" panose="02020603050405020304" pitchFamily="18" charset="0"/>
                <a:cs typeface="Times New Roman" panose="02020603050405020304" pitchFamily="18" charset="0"/>
              </a:rPr>
              <a:t>G</a:t>
            </a:r>
            <a:r>
              <a:rPr lang="fr-FR" sz="2800" b="1">
                <a:latin typeface="Times New Roman" panose="02020603050405020304" pitchFamily="18" charset="0"/>
                <a:cs typeface="Times New Roman" panose="02020603050405020304" pitchFamily="18" charset="0"/>
              </a:rPr>
              <a:t>REPALS</a:t>
            </a:r>
            <a:r>
              <a:rPr lang="fr-FR" sz="2800" dirty="0">
                <a:latin typeface="Times New Roman" panose="02020603050405020304" pitchFamily="18" charset="0"/>
                <a:cs typeface="Times New Roman" panose="02020603050405020304" pitchFamily="18" charset="0"/>
              </a:rPr>
              <a:t>, un groupe d’étudiants théorie-praticiens spécialistes de la donnée de l’Université Alioune Diop de Bambey. Ce document ne couvre pas l’intégralité des commandes Git, mais seulement celles dont nous avons besoin pour effectuer du versioning et du </a:t>
            </a:r>
            <a:r>
              <a:rPr lang="fr-FR" sz="2800" dirty="0" err="1">
                <a:latin typeface="Times New Roman" panose="02020603050405020304" pitchFamily="18" charset="0"/>
                <a:cs typeface="Times New Roman" panose="02020603050405020304" pitchFamily="18" charset="0"/>
              </a:rPr>
              <a:t>branching</a:t>
            </a:r>
            <a:r>
              <a:rPr lang="fr-FR" sz="2800" dirty="0">
                <a:latin typeface="Times New Roman" panose="02020603050405020304" pitchFamily="18" charset="0"/>
                <a:cs typeface="Times New Roman" panose="02020603050405020304" pitchFamily="18" charset="0"/>
              </a:rPr>
              <a:t>, facilitant ainsi le travail collaboratif sur des projets en équipe.</a:t>
            </a:r>
          </a:p>
        </p:txBody>
      </p:sp>
    </p:spTree>
    <p:extLst>
      <p:ext uri="{BB962C8B-B14F-4D97-AF65-F5344CB8AC3E}">
        <p14:creationId xmlns:p14="http://schemas.microsoft.com/office/powerpoint/2010/main" val="3557140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9" name="ZoneTexte 18">
            <a:extLst>
              <a:ext uri="{FF2B5EF4-FFF2-40B4-BE49-F238E27FC236}">
                <a16:creationId xmlns:a16="http://schemas.microsoft.com/office/drawing/2014/main" id="{CCA06590-2CDA-464B-B025-20D53647116F}"/>
              </a:ext>
            </a:extLst>
          </p:cNvPr>
          <p:cNvSpPr txBox="1"/>
          <p:nvPr/>
        </p:nvSpPr>
        <p:spPr>
          <a:xfrm>
            <a:off x="161925" y="867906"/>
            <a:ext cx="11725275" cy="1384995"/>
          </a:xfrm>
          <a:prstGeom prst="rect">
            <a:avLst/>
          </a:prstGeom>
          <a:noFill/>
        </p:spPr>
        <p:txBody>
          <a:bodyPr wrap="square" rtlCol="0">
            <a:spAutoFit/>
          </a:bodyPr>
          <a:lstStyle/>
          <a:p>
            <a:pPr algn="just"/>
            <a:r>
              <a:rPr lang="fr-FR" sz="2800" dirty="0">
                <a:latin typeface="Times New Roman" panose="02020603050405020304" pitchFamily="18" charset="0"/>
                <a:cs typeface="Times New Roman" panose="02020603050405020304" pitchFamily="18" charset="0"/>
              </a:rPr>
              <a:t>À terme de cette présentation, l’étudiant sera capable de créer un dépôt Git ou de cloner un dépôt existant, d’observer l’état d’un projet, d’ajouter des fichiers à l’index, de valider des modifications, etc.</a:t>
            </a:r>
          </a:p>
        </p:txBody>
      </p:sp>
      <p:sp>
        <p:nvSpPr>
          <p:cNvPr id="8" name="ZoneTexte 7">
            <a:extLst>
              <a:ext uri="{FF2B5EF4-FFF2-40B4-BE49-F238E27FC236}">
                <a16:creationId xmlns:a16="http://schemas.microsoft.com/office/drawing/2014/main" id="{41D780AE-F28C-4835-87C1-6CBA68A2A6DA}"/>
              </a:ext>
            </a:extLst>
          </p:cNvPr>
          <p:cNvSpPr txBox="1"/>
          <p:nvPr/>
        </p:nvSpPr>
        <p:spPr>
          <a:xfrm>
            <a:off x="161924" y="2560348"/>
            <a:ext cx="11725275" cy="954107"/>
          </a:xfrm>
          <a:prstGeom prst="rect">
            <a:avLst/>
          </a:prstGeom>
          <a:noFill/>
        </p:spPr>
        <p:txBody>
          <a:bodyPr wrap="square" rtlCol="0">
            <a:spAutoFit/>
          </a:bodyPr>
          <a:lstStyle/>
          <a:p>
            <a:pPr algn="just"/>
            <a:r>
              <a:rPr lang="fr-FR" sz="2800" dirty="0">
                <a:latin typeface="Times New Roman" panose="02020603050405020304" pitchFamily="18" charset="0"/>
                <a:cs typeface="Times New Roman" panose="02020603050405020304" pitchFamily="18" charset="0"/>
              </a:rPr>
              <a:t>L’étudiant sera également capable de configurer son environnement </a:t>
            </a:r>
            <a:r>
              <a:rPr lang="fr-FR" sz="2800" dirty="0" err="1">
                <a:latin typeface="Times New Roman" panose="02020603050405020304" pitchFamily="18" charset="0"/>
                <a:cs typeface="Times New Roman" panose="02020603050405020304" pitchFamily="18" charset="0"/>
              </a:rPr>
              <a:t>RStudio</a:t>
            </a:r>
            <a:r>
              <a:rPr lang="fr-FR" sz="2800" dirty="0">
                <a:latin typeface="Times New Roman" panose="02020603050405020304" pitchFamily="18" charset="0"/>
                <a:cs typeface="Times New Roman" panose="02020603050405020304" pitchFamily="18" charset="0"/>
              </a:rPr>
              <a:t> (ainsi que VS Code) avec Git.</a:t>
            </a:r>
          </a:p>
        </p:txBody>
      </p:sp>
      <p:pic>
        <p:nvPicPr>
          <p:cNvPr id="2052" name="Picture 4" descr="Produits RStudio - Rtask">
            <a:extLst>
              <a:ext uri="{FF2B5EF4-FFF2-40B4-BE49-F238E27FC236}">
                <a16:creationId xmlns:a16="http://schemas.microsoft.com/office/drawing/2014/main" id="{E408BE64-A06A-48D9-9E01-6F20CE544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263" y="4663496"/>
            <a:ext cx="3628725" cy="124851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scode Logo Png - lizin.org">
            <a:extLst>
              <a:ext uri="{FF2B5EF4-FFF2-40B4-BE49-F238E27FC236}">
                <a16:creationId xmlns:a16="http://schemas.microsoft.com/office/drawing/2014/main" id="{80A3F771-46FA-48EB-892E-4E6973F33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3583" y="4119613"/>
            <a:ext cx="2546684" cy="1870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297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028" name="Picture 4" descr="GitHub Logo, symbol, meaning, history, PNG, brand">
            <a:extLst>
              <a:ext uri="{FF2B5EF4-FFF2-40B4-BE49-F238E27FC236}">
                <a16:creationId xmlns:a16="http://schemas.microsoft.com/office/drawing/2014/main" id="{13B246A9-6A02-4485-ADD5-F9980784C7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188" y="228600"/>
            <a:ext cx="5311058" cy="26974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 - Installation de Git">
            <a:extLst>
              <a:ext uri="{FF2B5EF4-FFF2-40B4-BE49-F238E27FC236}">
                <a16:creationId xmlns:a16="http://schemas.microsoft.com/office/drawing/2014/main" id="{B720DE61-1166-4288-BCF3-3230126CA5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396" y="3943952"/>
            <a:ext cx="4918509" cy="1624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193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5775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030" name="Picture 6" descr="Git - Installation de Git">
            <a:extLst>
              <a:ext uri="{FF2B5EF4-FFF2-40B4-BE49-F238E27FC236}">
                <a16:creationId xmlns:a16="http://schemas.microsoft.com/office/drawing/2014/main" id="{B720DE61-1166-4288-BCF3-3230126CA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2658" y="157968"/>
            <a:ext cx="3562800" cy="148989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A33EA630-6817-45C1-A291-75B401D48A83}"/>
              </a:ext>
            </a:extLst>
          </p:cNvPr>
          <p:cNvSpPr txBox="1"/>
          <p:nvPr/>
        </p:nvSpPr>
        <p:spPr>
          <a:xfrm>
            <a:off x="229402" y="1647866"/>
            <a:ext cx="11733196" cy="954107"/>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Git</a:t>
            </a:r>
            <a:r>
              <a:rPr lang="fr-FR" sz="2800" dirty="0">
                <a:latin typeface="Times New Roman" panose="02020603050405020304" pitchFamily="18" charset="0"/>
                <a:cs typeface="Times New Roman" panose="02020603050405020304" pitchFamily="18" charset="0"/>
              </a:rPr>
              <a:t> est un </a:t>
            </a:r>
            <a:r>
              <a:rPr lang="fr-FR" sz="2800" b="1" dirty="0">
                <a:latin typeface="Times New Roman" panose="02020603050405020304" pitchFamily="18" charset="0"/>
                <a:cs typeface="Times New Roman" panose="02020603050405020304" pitchFamily="18" charset="0"/>
              </a:rPr>
              <a:t>logiciel de gestion de versions</a:t>
            </a:r>
            <a:r>
              <a:rPr lang="fr-FR" sz="2800" dirty="0">
                <a:latin typeface="Times New Roman" panose="02020603050405020304" pitchFamily="18" charset="0"/>
                <a:cs typeface="Times New Roman" panose="02020603050405020304" pitchFamily="18" charset="0"/>
              </a:rPr>
              <a:t> (version control system) créé par Linus </a:t>
            </a:r>
            <a:r>
              <a:rPr lang="fr-FR" sz="2800" dirty="0" err="1">
                <a:latin typeface="Times New Roman" panose="02020603050405020304" pitchFamily="18" charset="0"/>
                <a:cs typeface="Times New Roman" panose="02020603050405020304" pitchFamily="18" charset="0"/>
              </a:rPr>
              <a:t>Torvalds</a:t>
            </a:r>
            <a:r>
              <a:rPr lang="fr-FR" sz="2800" dirty="0">
                <a:latin typeface="Times New Roman" panose="02020603050405020304" pitchFamily="18" charset="0"/>
                <a:cs typeface="Times New Roman" panose="02020603050405020304" pitchFamily="18" charset="0"/>
              </a:rPr>
              <a:t> en 2005.</a:t>
            </a:r>
          </a:p>
        </p:txBody>
      </p:sp>
      <p:sp>
        <p:nvSpPr>
          <p:cNvPr id="7" name="ZoneTexte 6">
            <a:extLst>
              <a:ext uri="{FF2B5EF4-FFF2-40B4-BE49-F238E27FC236}">
                <a16:creationId xmlns:a16="http://schemas.microsoft.com/office/drawing/2014/main" id="{8FC9441A-1FE5-407C-B71D-ABDAD338AFBC}"/>
              </a:ext>
            </a:extLst>
          </p:cNvPr>
          <p:cNvSpPr txBox="1"/>
          <p:nvPr/>
        </p:nvSpPr>
        <p:spPr>
          <a:xfrm>
            <a:off x="229402" y="4815784"/>
            <a:ext cx="11733196"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C’est un outil </a:t>
            </a:r>
            <a:r>
              <a:rPr lang="fr-FR" sz="2800" b="1" dirty="0">
                <a:latin typeface="Times New Roman" panose="02020603050405020304" pitchFamily="18" charset="0"/>
                <a:cs typeface="Times New Roman" panose="02020603050405020304" pitchFamily="18" charset="0"/>
              </a:rPr>
              <a:t>à installer </a:t>
            </a:r>
            <a:r>
              <a:rPr lang="fr-FR" sz="2800" dirty="0">
                <a:latin typeface="Times New Roman" panose="02020603050405020304" pitchFamily="18" charset="0"/>
                <a:cs typeface="Times New Roman" panose="02020603050405020304" pitchFamily="18" charset="0"/>
              </a:rPr>
              <a:t>et qui va fonctionner localement sur votre machine.</a:t>
            </a:r>
          </a:p>
        </p:txBody>
      </p:sp>
      <p:sp>
        <p:nvSpPr>
          <p:cNvPr id="8" name="ZoneTexte 7">
            <a:extLst>
              <a:ext uri="{FF2B5EF4-FFF2-40B4-BE49-F238E27FC236}">
                <a16:creationId xmlns:a16="http://schemas.microsoft.com/office/drawing/2014/main" id="{90BC68B4-5E8D-4BE6-8E53-2371466E2288}"/>
              </a:ext>
            </a:extLst>
          </p:cNvPr>
          <p:cNvSpPr txBox="1"/>
          <p:nvPr/>
        </p:nvSpPr>
        <p:spPr>
          <a:xfrm>
            <a:off x="229402" y="2800937"/>
            <a:ext cx="11733196" cy="1815882"/>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Git</a:t>
            </a:r>
            <a:r>
              <a:rPr lang="fr-FR" sz="2800" dirty="0">
                <a:latin typeface="Times New Roman" panose="02020603050405020304" pitchFamily="18" charset="0"/>
                <a:cs typeface="Times New Roman" panose="02020603050405020304" pitchFamily="18" charset="0"/>
              </a:rPr>
              <a:t> permet de :</a:t>
            </a:r>
          </a:p>
          <a:p>
            <a:r>
              <a:rPr lang="fr-FR" sz="2800" dirty="0">
                <a:latin typeface="Times New Roman" panose="02020603050405020304" pitchFamily="18" charset="0"/>
                <a:cs typeface="Times New Roman" panose="02020603050405020304" pitchFamily="18" charset="0"/>
              </a:rPr>
              <a:t>	- suivre l’historique des vos fichiers et projets</a:t>
            </a:r>
          </a:p>
          <a:p>
            <a:r>
              <a:rPr lang="fr-FR" sz="2800" dirty="0">
                <a:latin typeface="Times New Roman" panose="02020603050405020304" pitchFamily="18" charset="0"/>
                <a:cs typeface="Times New Roman" panose="02020603050405020304" pitchFamily="18" charset="0"/>
              </a:rPr>
              <a:t>	- sauvegarder différentes versions de votre code</a:t>
            </a:r>
          </a:p>
          <a:p>
            <a:r>
              <a:rPr lang="fr-FR" sz="2800" dirty="0">
                <a:latin typeface="Times New Roman" panose="02020603050405020304" pitchFamily="18" charset="0"/>
                <a:cs typeface="Times New Roman" panose="02020603050405020304" pitchFamily="18" charset="0"/>
              </a:rPr>
              <a:t>	- revenir en arrière en cas d’erreurs.</a:t>
            </a:r>
          </a:p>
        </p:txBody>
      </p:sp>
      <p:sp>
        <p:nvSpPr>
          <p:cNvPr id="3" name="ZoneTexte 2">
            <a:extLst>
              <a:ext uri="{FF2B5EF4-FFF2-40B4-BE49-F238E27FC236}">
                <a16:creationId xmlns:a16="http://schemas.microsoft.com/office/drawing/2014/main" id="{CA452E6A-24A4-46F0-A36D-2CF54CC69BEC}"/>
              </a:ext>
            </a:extLst>
          </p:cNvPr>
          <p:cNvSpPr txBox="1"/>
          <p:nvPr/>
        </p:nvSpPr>
        <p:spPr>
          <a:xfrm>
            <a:off x="229402" y="5953225"/>
            <a:ext cx="7992177"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Lien de téléchargement : </a:t>
            </a:r>
            <a:r>
              <a:rPr lang="fr-FR" sz="2800" dirty="0">
                <a:hlinkClick r:id="rId3"/>
              </a:rPr>
              <a:t>Git - Install for Windows</a:t>
            </a:r>
            <a:endParaRPr lang="fr-FR" sz="2800" dirty="0">
              <a:latin typeface="Times New Roman" panose="02020603050405020304" pitchFamily="18" charset="0"/>
              <a:cs typeface="Times New Roman" panose="02020603050405020304" pitchFamily="18" charset="0"/>
            </a:endParaRPr>
          </a:p>
        </p:txBody>
      </p:sp>
      <p:pic>
        <p:nvPicPr>
          <p:cNvPr id="12" name="Image 11">
            <a:extLst>
              <a:ext uri="{FF2B5EF4-FFF2-40B4-BE49-F238E27FC236}">
                <a16:creationId xmlns:a16="http://schemas.microsoft.com/office/drawing/2014/main" id="{88F89868-08EE-4E95-A65C-5C2C241AFC15}"/>
              </a:ext>
            </a:extLst>
          </p:cNvPr>
          <p:cNvPicPr>
            <a:picLocks noChangeAspect="1"/>
          </p:cNvPicPr>
          <p:nvPr/>
        </p:nvPicPr>
        <p:blipFill>
          <a:blip r:embed="rId4"/>
          <a:stretch>
            <a:fillRect/>
          </a:stretch>
        </p:blipFill>
        <p:spPr>
          <a:xfrm>
            <a:off x="7988508" y="5339004"/>
            <a:ext cx="4203491" cy="1518996"/>
          </a:xfrm>
          <a:prstGeom prst="rect">
            <a:avLst/>
          </a:prstGeom>
        </p:spPr>
      </p:pic>
      <p:sp>
        <p:nvSpPr>
          <p:cNvPr id="15" name="ZoneTexte 14">
            <a:extLst>
              <a:ext uri="{FF2B5EF4-FFF2-40B4-BE49-F238E27FC236}">
                <a16:creationId xmlns:a16="http://schemas.microsoft.com/office/drawing/2014/main" id="{7F2D4F26-9D4A-4B3F-BE6F-B62C6F12DC82}"/>
              </a:ext>
            </a:extLst>
          </p:cNvPr>
          <p:cNvSpPr txBox="1"/>
          <p:nvPr/>
        </p:nvSpPr>
        <p:spPr>
          <a:xfrm>
            <a:off x="207404" y="6438422"/>
            <a:ext cx="7992177" cy="461665"/>
          </a:xfrm>
          <a:prstGeom prst="rect">
            <a:avLst/>
          </a:prstGeom>
          <a:noFill/>
        </p:spPr>
        <p:txBody>
          <a:bodyPr wrap="square" rtlCol="0">
            <a:spAutoFit/>
          </a:bodyPr>
          <a:lstStyle/>
          <a:p>
            <a:r>
              <a:rPr lang="fr-FR" sz="2400" dirty="0">
                <a:latin typeface="Times New Roman" panose="02020603050405020304" pitchFamily="18" charset="0"/>
                <a:cs typeface="Times New Roman" panose="02020603050405020304" pitchFamily="18" charset="0"/>
              </a:rPr>
              <a:t>Date de dernière consultation du site web : 28/10/2025</a:t>
            </a:r>
          </a:p>
        </p:txBody>
      </p:sp>
    </p:spTree>
    <p:extLst>
      <p:ext uri="{BB962C8B-B14F-4D97-AF65-F5344CB8AC3E}">
        <p14:creationId xmlns:p14="http://schemas.microsoft.com/office/powerpoint/2010/main" val="1956136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028" name="Picture 4" descr="GitHub Logo, symbol, meaning, history, PNG, brand">
            <a:extLst>
              <a:ext uri="{FF2B5EF4-FFF2-40B4-BE49-F238E27FC236}">
                <a16:creationId xmlns:a16="http://schemas.microsoft.com/office/drawing/2014/main" id="{13B246A9-6A02-4485-ADD5-F9980784C7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107" y="105877"/>
            <a:ext cx="3513222" cy="1337911"/>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9E6C4862-06A7-4561-B70C-BE577CAF2CB3}"/>
              </a:ext>
            </a:extLst>
          </p:cNvPr>
          <p:cNvSpPr txBox="1"/>
          <p:nvPr/>
        </p:nvSpPr>
        <p:spPr>
          <a:xfrm>
            <a:off x="229402" y="1647866"/>
            <a:ext cx="11733196" cy="954107"/>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GitHub</a:t>
            </a:r>
            <a:r>
              <a:rPr lang="fr-FR" sz="2800" dirty="0">
                <a:latin typeface="Times New Roman" panose="02020603050405020304" pitchFamily="18" charset="0"/>
                <a:cs typeface="Times New Roman" panose="02020603050405020304" pitchFamily="18" charset="0"/>
              </a:rPr>
              <a:t> est un </a:t>
            </a:r>
            <a:r>
              <a:rPr lang="fr-FR" sz="2800" b="1" dirty="0">
                <a:latin typeface="Times New Roman" panose="02020603050405020304" pitchFamily="18" charset="0"/>
                <a:cs typeface="Times New Roman" panose="02020603050405020304" pitchFamily="18" charset="0"/>
              </a:rPr>
              <a:t>site web / plateforme en ligne</a:t>
            </a:r>
            <a:r>
              <a:rPr lang="fr-FR" sz="2800" dirty="0">
                <a:latin typeface="Times New Roman" panose="02020603050405020304" pitchFamily="18" charset="0"/>
                <a:cs typeface="Times New Roman" panose="02020603050405020304" pitchFamily="18" charset="0"/>
              </a:rPr>
              <a:t> créé en 2008 (racheté par Microsoft en 2018).</a:t>
            </a:r>
          </a:p>
        </p:txBody>
      </p:sp>
      <p:sp>
        <p:nvSpPr>
          <p:cNvPr id="7" name="ZoneTexte 6">
            <a:extLst>
              <a:ext uri="{FF2B5EF4-FFF2-40B4-BE49-F238E27FC236}">
                <a16:creationId xmlns:a16="http://schemas.microsoft.com/office/drawing/2014/main" id="{A6B463C8-60DC-42EB-A7B6-13712D1595DD}"/>
              </a:ext>
            </a:extLst>
          </p:cNvPr>
          <p:cNvSpPr txBox="1"/>
          <p:nvPr/>
        </p:nvSpPr>
        <p:spPr>
          <a:xfrm>
            <a:off x="229402" y="2800937"/>
            <a:ext cx="11733196" cy="1815882"/>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GitHub</a:t>
            </a:r>
            <a:r>
              <a:rPr lang="fr-FR" sz="2800" dirty="0">
                <a:latin typeface="Times New Roman" panose="02020603050405020304" pitchFamily="18" charset="0"/>
                <a:cs typeface="Times New Roman" panose="02020603050405020304" pitchFamily="18" charset="0"/>
              </a:rPr>
              <a:t> permet de :</a:t>
            </a:r>
          </a:p>
          <a:p>
            <a:r>
              <a:rPr lang="fr-FR" sz="2800" dirty="0">
                <a:latin typeface="Times New Roman" panose="02020603050405020304" pitchFamily="18" charset="0"/>
                <a:cs typeface="Times New Roman" panose="02020603050405020304" pitchFamily="18" charset="0"/>
              </a:rPr>
              <a:t>	- sauvegarder ton code en ligne (dans le cloud)</a:t>
            </a:r>
          </a:p>
          <a:p>
            <a:r>
              <a:rPr lang="fr-FR" sz="2800" dirty="0">
                <a:latin typeface="Times New Roman" panose="02020603050405020304" pitchFamily="18" charset="0"/>
                <a:cs typeface="Times New Roman" panose="02020603050405020304" pitchFamily="18" charset="0"/>
              </a:rPr>
              <a:t>	- faciliter la collaboration avec d’autres développeurs et/ou intervenants  	   du projet.</a:t>
            </a:r>
          </a:p>
        </p:txBody>
      </p:sp>
      <p:sp>
        <p:nvSpPr>
          <p:cNvPr id="8" name="ZoneTexte 7">
            <a:extLst>
              <a:ext uri="{FF2B5EF4-FFF2-40B4-BE49-F238E27FC236}">
                <a16:creationId xmlns:a16="http://schemas.microsoft.com/office/drawing/2014/main" id="{D37049BD-0B4D-4278-A13D-39429EACDFFC}"/>
              </a:ext>
            </a:extLst>
          </p:cNvPr>
          <p:cNvSpPr txBox="1"/>
          <p:nvPr/>
        </p:nvSpPr>
        <p:spPr>
          <a:xfrm>
            <a:off x="229402" y="4686914"/>
            <a:ext cx="11733196"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C’est un </a:t>
            </a:r>
            <a:r>
              <a:rPr lang="fr-FR" sz="2800" b="1" dirty="0">
                <a:latin typeface="Times New Roman" panose="02020603050405020304" pitchFamily="18" charset="0"/>
                <a:cs typeface="Times New Roman" panose="02020603050405020304" pitchFamily="18" charset="0"/>
              </a:rPr>
              <a:t>service d’hébergement </a:t>
            </a:r>
            <a:r>
              <a:rPr lang="fr-FR" sz="2800" dirty="0">
                <a:latin typeface="Times New Roman" panose="02020603050405020304" pitchFamily="18" charset="0"/>
                <a:cs typeface="Times New Roman" panose="02020603050405020304" pitchFamily="18" charset="0"/>
              </a:rPr>
              <a:t>pour les projets git.</a:t>
            </a:r>
          </a:p>
        </p:txBody>
      </p:sp>
      <p:sp>
        <p:nvSpPr>
          <p:cNvPr id="9" name="ZoneTexte 8">
            <a:extLst>
              <a:ext uri="{FF2B5EF4-FFF2-40B4-BE49-F238E27FC236}">
                <a16:creationId xmlns:a16="http://schemas.microsoft.com/office/drawing/2014/main" id="{66755BAC-AF90-4187-90D6-B78445FB6588}"/>
              </a:ext>
            </a:extLst>
          </p:cNvPr>
          <p:cNvSpPr txBox="1"/>
          <p:nvPr/>
        </p:nvSpPr>
        <p:spPr>
          <a:xfrm>
            <a:off x="229402" y="5953225"/>
            <a:ext cx="7992177"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Lien de connexion  : </a:t>
            </a:r>
            <a:r>
              <a:rPr lang="fr-FR" sz="2800" dirty="0">
                <a:hlinkClick r:id="rId3"/>
              </a:rPr>
              <a:t>GitHub</a:t>
            </a:r>
            <a:endParaRPr lang="fr-FR" sz="2800" dirty="0">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D6495477-0BDA-4D8B-A8E2-A65902F0D72B}"/>
              </a:ext>
            </a:extLst>
          </p:cNvPr>
          <p:cNvSpPr txBox="1"/>
          <p:nvPr/>
        </p:nvSpPr>
        <p:spPr>
          <a:xfrm>
            <a:off x="207404" y="6438422"/>
            <a:ext cx="7992177" cy="461665"/>
          </a:xfrm>
          <a:prstGeom prst="rect">
            <a:avLst/>
          </a:prstGeom>
          <a:noFill/>
        </p:spPr>
        <p:txBody>
          <a:bodyPr wrap="square" rtlCol="0">
            <a:spAutoFit/>
          </a:bodyPr>
          <a:lstStyle/>
          <a:p>
            <a:r>
              <a:rPr lang="fr-FR" sz="2400" dirty="0">
                <a:latin typeface="Times New Roman" panose="02020603050405020304" pitchFamily="18" charset="0"/>
                <a:cs typeface="Times New Roman" panose="02020603050405020304" pitchFamily="18" charset="0"/>
              </a:rPr>
              <a:t>Date de dernière consultation du site web : 28/10/2025</a:t>
            </a:r>
          </a:p>
        </p:txBody>
      </p:sp>
    </p:spTree>
    <p:extLst>
      <p:ext uri="{BB962C8B-B14F-4D97-AF65-F5344CB8AC3E}">
        <p14:creationId xmlns:p14="http://schemas.microsoft.com/office/powerpoint/2010/main" val="1753683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1020278"/>
            <a:ext cx="6073541"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Configuration initiale de Git</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config --global user.name "votre-nom"    </a:t>
            </a:r>
            <a:r>
              <a:rPr lang="fr-FR" sz="2400"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définit votre nom d’utilisateur global (par défaut) sur Git</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320293"/>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config --global </a:t>
            </a:r>
            <a:r>
              <a:rPr lang="fr-FR" sz="2400" b="1" dirty="0" err="1">
                <a:latin typeface="Times New Roman" panose="02020603050405020304" pitchFamily="18" charset="0"/>
                <a:cs typeface="Times New Roman" panose="02020603050405020304" pitchFamily="18" charset="0"/>
              </a:rPr>
              <a:t>user.email</a:t>
            </a:r>
            <a:r>
              <a:rPr lang="fr-FR" sz="2400" b="1" dirty="0">
                <a:latin typeface="Times New Roman" panose="02020603050405020304" pitchFamily="18" charset="0"/>
                <a:cs typeface="Times New Roman" panose="02020603050405020304" pitchFamily="18" charset="0"/>
              </a:rPr>
              <a:t> "votre-email"    </a:t>
            </a:r>
            <a:r>
              <a:rPr lang="fr-FR" sz="2400"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définit votre nom d’utilisateur global (par défaut) sur Git</a:t>
            </a:r>
            <a:endParaRPr lang="fr-FR" sz="2400" b="1" dirty="0">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7CFEF08C-4013-42BD-B76F-1106C663E458}"/>
              </a:ext>
            </a:extLst>
          </p:cNvPr>
          <p:cNvSpPr txBox="1"/>
          <p:nvPr/>
        </p:nvSpPr>
        <p:spPr>
          <a:xfrm>
            <a:off x="978568" y="3929687"/>
            <a:ext cx="3336758"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config user.name    </a:t>
            </a:r>
            <a:r>
              <a:rPr lang="fr-FR" sz="2400" dirty="0">
                <a:latin typeface="Times New Roman" panose="02020603050405020304" pitchFamily="18" charset="0"/>
                <a:cs typeface="Times New Roman" panose="02020603050405020304" pitchFamily="18" charset="0"/>
              </a:rPr>
              <a:t> </a:t>
            </a:r>
            <a:endParaRPr lang="fr-FR" sz="2400" b="1" dirty="0">
              <a:latin typeface="Times New Roman" panose="02020603050405020304" pitchFamily="18" charset="0"/>
              <a:cs typeface="Times New Roman" panose="02020603050405020304" pitchFamily="18" charset="0"/>
            </a:endParaRPr>
          </a:p>
        </p:txBody>
      </p:sp>
      <p:sp>
        <p:nvSpPr>
          <p:cNvPr id="14" name="ZoneTexte 13">
            <a:extLst>
              <a:ext uri="{FF2B5EF4-FFF2-40B4-BE49-F238E27FC236}">
                <a16:creationId xmlns:a16="http://schemas.microsoft.com/office/drawing/2014/main" id="{D8E4EE2B-83F7-45FA-B7AC-AECDCC7C055E}"/>
              </a:ext>
            </a:extLst>
          </p:cNvPr>
          <p:cNvSpPr txBox="1"/>
          <p:nvPr/>
        </p:nvSpPr>
        <p:spPr>
          <a:xfrm>
            <a:off x="7052109" y="3924616"/>
            <a:ext cx="3336758"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config </a:t>
            </a:r>
            <a:r>
              <a:rPr lang="fr-FR" sz="2400" b="1" dirty="0" err="1">
                <a:latin typeface="Times New Roman" panose="02020603050405020304" pitchFamily="18" charset="0"/>
                <a:cs typeface="Times New Roman" panose="02020603050405020304" pitchFamily="18" charset="0"/>
              </a:rPr>
              <a:t>user.email</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a:t>
            </a:r>
            <a:endParaRPr lang="fr-FR" sz="2400" b="1" dirty="0">
              <a:latin typeface="Times New Roman" panose="02020603050405020304" pitchFamily="18" charset="0"/>
              <a:cs typeface="Times New Roman" panose="02020603050405020304" pitchFamily="18" charset="0"/>
            </a:endParaRPr>
          </a:p>
        </p:txBody>
      </p:sp>
      <p:sp>
        <p:nvSpPr>
          <p:cNvPr id="16" name="ZoneTexte 15">
            <a:extLst>
              <a:ext uri="{FF2B5EF4-FFF2-40B4-BE49-F238E27FC236}">
                <a16:creationId xmlns:a16="http://schemas.microsoft.com/office/drawing/2014/main" id="{70614442-D93F-4B5A-9512-B4047EB6ACA1}"/>
              </a:ext>
            </a:extLst>
          </p:cNvPr>
          <p:cNvSpPr txBox="1"/>
          <p:nvPr/>
        </p:nvSpPr>
        <p:spPr>
          <a:xfrm>
            <a:off x="4613710" y="3228945"/>
            <a:ext cx="1777465" cy="400110"/>
          </a:xfrm>
          <a:prstGeom prst="rect">
            <a:avLst/>
          </a:prstGeom>
          <a:noFill/>
        </p:spPr>
        <p:txBody>
          <a:bodyPr wrap="square" rtlCol="0">
            <a:spAutoFit/>
          </a:bodyPr>
          <a:lstStyle/>
          <a:p>
            <a:r>
              <a:rPr lang="fr-FR" sz="2000" dirty="0">
                <a:latin typeface="Times New Roman" panose="02020603050405020304" pitchFamily="18" charset="0"/>
                <a:cs typeface="Times New Roman" panose="02020603050405020304" pitchFamily="18" charset="0"/>
              </a:rPr>
              <a:t>Vérifications</a:t>
            </a:r>
          </a:p>
        </p:txBody>
      </p:sp>
      <p:pic>
        <p:nvPicPr>
          <p:cNvPr id="17" name="Image 16">
            <a:extLst>
              <a:ext uri="{FF2B5EF4-FFF2-40B4-BE49-F238E27FC236}">
                <a16:creationId xmlns:a16="http://schemas.microsoft.com/office/drawing/2014/main" id="{2F5D16E8-9478-4351-BFEF-1127BC58823A}"/>
              </a:ext>
            </a:extLst>
          </p:cNvPr>
          <p:cNvPicPr>
            <a:picLocks noChangeAspect="1"/>
          </p:cNvPicPr>
          <p:nvPr/>
        </p:nvPicPr>
        <p:blipFill>
          <a:blip r:embed="rId2"/>
          <a:stretch>
            <a:fillRect/>
          </a:stretch>
        </p:blipFill>
        <p:spPr>
          <a:xfrm>
            <a:off x="717396" y="4485102"/>
            <a:ext cx="4654789" cy="1352620"/>
          </a:xfrm>
          <a:prstGeom prst="rect">
            <a:avLst/>
          </a:prstGeom>
        </p:spPr>
      </p:pic>
      <p:pic>
        <p:nvPicPr>
          <p:cNvPr id="19" name="Image 18">
            <a:extLst>
              <a:ext uri="{FF2B5EF4-FFF2-40B4-BE49-F238E27FC236}">
                <a16:creationId xmlns:a16="http://schemas.microsoft.com/office/drawing/2014/main" id="{8371D650-161F-41F6-A2D1-8CF5BFB96C75}"/>
              </a:ext>
            </a:extLst>
          </p:cNvPr>
          <p:cNvPicPr>
            <a:picLocks noChangeAspect="1"/>
          </p:cNvPicPr>
          <p:nvPr/>
        </p:nvPicPr>
        <p:blipFill>
          <a:blip r:embed="rId3"/>
          <a:stretch>
            <a:fillRect/>
          </a:stretch>
        </p:blipFill>
        <p:spPr>
          <a:xfrm>
            <a:off x="6956311" y="4485102"/>
            <a:ext cx="4131992" cy="1352620"/>
          </a:xfrm>
          <a:prstGeom prst="rect">
            <a:avLst/>
          </a:prstGeom>
        </p:spPr>
      </p:pic>
      <p:sp>
        <p:nvSpPr>
          <p:cNvPr id="21" name="ZoneTexte 20">
            <a:extLst>
              <a:ext uri="{FF2B5EF4-FFF2-40B4-BE49-F238E27FC236}">
                <a16:creationId xmlns:a16="http://schemas.microsoft.com/office/drawing/2014/main" id="{3C177BCF-28F4-40F9-8C00-BD6EF532E074}"/>
              </a:ext>
            </a:extLst>
          </p:cNvPr>
          <p:cNvSpPr txBox="1"/>
          <p:nvPr/>
        </p:nvSpPr>
        <p:spPr>
          <a:xfrm>
            <a:off x="-86627" y="6015912"/>
            <a:ext cx="12618719" cy="400110"/>
          </a:xfrm>
          <a:prstGeom prst="rect">
            <a:avLst/>
          </a:prstGeom>
          <a:noFill/>
        </p:spPr>
        <p:txBody>
          <a:bodyPr wrap="square" rtlCol="0">
            <a:spAutoFit/>
          </a:bodyPr>
          <a:lstStyle/>
          <a:p>
            <a:r>
              <a:rPr lang="fr-FR" sz="2000" dirty="0">
                <a:latin typeface="Times New Roman" panose="02020603050405020304" pitchFamily="18" charset="0"/>
                <a:cs typeface="Times New Roman" panose="02020603050405020304" pitchFamily="18" charset="0"/>
              </a:rPr>
              <a:t>L’exécution peut se faire soit sur l’invité de commande (</a:t>
            </a:r>
            <a:r>
              <a:rPr lang="fr-FR" sz="2000" b="1" dirty="0">
                <a:latin typeface="Times New Roman" panose="02020603050405020304" pitchFamily="18" charset="0"/>
                <a:cs typeface="Times New Roman" panose="02020603050405020304" pitchFamily="18" charset="0"/>
              </a:rPr>
              <a:t>CMD</a:t>
            </a:r>
            <a:r>
              <a:rPr lang="fr-FR" sz="2000" dirty="0">
                <a:latin typeface="Times New Roman" panose="02020603050405020304" pitchFamily="18" charset="0"/>
                <a:cs typeface="Times New Roman" panose="02020603050405020304" pitchFamily="18" charset="0"/>
              </a:rPr>
              <a:t>), soit sur </a:t>
            </a:r>
            <a:r>
              <a:rPr lang="fr-FR" sz="2000" b="1" dirty="0">
                <a:latin typeface="Times New Roman" panose="02020603050405020304" pitchFamily="18" charset="0"/>
                <a:cs typeface="Times New Roman" panose="02020603050405020304" pitchFamily="18" charset="0"/>
              </a:rPr>
              <a:t>Git Bash </a:t>
            </a:r>
            <a:r>
              <a:rPr lang="fr-FR" sz="2000" dirty="0">
                <a:latin typeface="Times New Roman" panose="02020603050405020304" pitchFamily="18" charset="0"/>
                <a:cs typeface="Times New Roman" panose="02020603050405020304" pitchFamily="18" charset="0"/>
              </a:rPr>
              <a:t>qui apparaît après l’installation de Git. </a:t>
            </a:r>
          </a:p>
        </p:txBody>
      </p:sp>
      <p:sp>
        <p:nvSpPr>
          <p:cNvPr id="22" name="ZoneTexte 21">
            <a:extLst>
              <a:ext uri="{FF2B5EF4-FFF2-40B4-BE49-F238E27FC236}">
                <a16:creationId xmlns:a16="http://schemas.microsoft.com/office/drawing/2014/main" id="{4F5E5A8D-04C4-422B-9AF4-910395B3FA04}"/>
              </a:ext>
            </a:extLst>
          </p:cNvPr>
          <p:cNvSpPr txBox="1"/>
          <p:nvPr/>
        </p:nvSpPr>
        <p:spPr>
          <a:xfrm>
            <a:off x="317634" y="6416022"/>
            <a:ext cx="11794156" cy="400110"/>
          </a:xfrm>
          <a:prstGeom prst="rect">
            <a:avLst/>
          </a:prstGeom>
          <a:noFill/>
        </p:spPr>
        <p:txBody>
          <a:bodyPr wrap="square" rtlCol="0">
            <a:spAutoFit/>
          </a:bodyPr>
          <a:lstStyle/>
          <a:p>
            <a:r>
              <a:rPr lang="fr-FR" sz="2000" b="1" dirty="0"/>
              <a:t>NB :</a:t>
            </a:r>
            <a:r>
              <a:rPr lang="fr-FR" sz="2000" dirty="0"/>
              <a:t> Dans toute la suite de ce document, nous utiliserons </a:t>
            </a:r>
            <a:r>
              <a:rPr lang="fr-FR" sz="2000" b="1" dirty="0"/>
              <a:t>CMD</a:t>
            </a:r>
            <a:r>
              <a:rPr lang="fr-FR" sz="2000" dirty="0"/>
              <a:t> par souci de familiarité.</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820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6073541"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Créer ou cloner des dépôts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init   </a:t>
            </a:r>
            <a:r>
              <a:rPr lang="fr-FR" sz="2400" dirty="0">
                <a:latin typeface="Times New Roman" panose="02020603050405020304" pitchFamily="18" charset="0"/>
                <a:cs typeface="Times New Roman" panose="02020603050405020304" pitchFamily="18" charset="0"/>
              </a:rPr>
              <a:t>: initialise un dépôt Git dans le dossier courant</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320293"/>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clone </a:t>
            </a:r>
            <a:r>
              <a:rPr lang="fr-FR" sz="2400" b="1" dirty="0" err="1">
                <a:latin typeface="Times New Roman" panose="02020603050405020304" pitchFamily="18" charset="0"/>
                <a:cs typeface="Times New Roman" panose="02020603050405020304" pitchFamily="18" charset="0"/>
              </a:rPr>
              <a:t>coller_url</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clone (copie) un dépôt GitHub sur votre machine</a:t>
            </a:r>
            <a:endParaRPr lang="fr-FR" sz="2400" b="1" dirty="0">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20104561-DB8E-4541-8019-5A7440084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5136" y="3840481"/>
            <a:ext cx="7186863" cy="3017519"/>
          </a:xfrm>
          <a:prstGeom prst="rect">
            <a:avLst/>
          </a:prstGeom>
        </p:spPr>
      </p:pic>
      <p:sp>
        <p:nvSpPr>
          <p:cNvPr id="7" name="Rectangle 6">
            <a:extLst>
              <a:ext uri="{FF2B5EF4-FFF2-40B4-BE49-F238E27FC236}">
                <a16:creationId xmlns:a16="http://schemas.microsoft.com/office/drawing/2014/main" id="{8E4E6ECA-D14B-4F43-95EA-6434A9B705D3}"/>
              </a:ext>
            </a:extLst>
          </p:cNvPr>
          <p:cNvSpPr/>
          <p:nvPr/>
        </p:nvSpPr>
        <p:spPr>
          <a:xfrm>
            <a:off x="5005136" y="4749530"/>
            <a:ext cx="7093820" cy="336884"/>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EF4D5B2F-F414-4011-8C71-E4FDAB01A526}"/>
              </a:ext>
            </a:extLst>
          </p:cNvPr>
          <p:cNvPicPr>
            <a:picLocks noChangeAspect="1"/>
          </p:cNvPicPr>
          <p:nvPr/>
        </p:nvPicPr>
        <p:blipFill>
          <a:blip r:embed="rId3"/>
          <a:stretch>
            <a:fillRect/>
          </a:stretch>
        </p:blipFill>
        <p:spPr>
          <a:xfrm>
            <a:off x="317634" y="2990217"/>
            <a:ext cx="7906156" cy="781090"/>
          </a:xfrm>
          <a:prstGeom prst="rect">
            <a:avLst/>
          </a:prstGeom>
        </p:spPr>
      </p:pic>
      <p:sp>
        <p:nvSpPr>
          <p:cNvPr id="20" name="Rectangle 19">
            <a:extLst>
              <a:ext uri="{FF2B5EF4-FFF2-40B4-BE49-F238E27FC236}">
                <a16:creationId xmlns:a16="http://schemas.microsoft.com/office/drawing/2014/main" id="{A6D7B9F5-BB63-407A-9D03-6BFCF659C9AF}"/>
              </a:ext>
            </a:extLst>
          </p:cNvPr>
          <p:cNvSpPr/>
          <p:nvPr/>
        </p:nvSpPr>
        <p:spPr>
          <a:xfrm>
            <a:off x="317634" y="3019502"/>
            <a:ext cx="4523873" cy="330090"/>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17009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6073541"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Travailler avec les fichiers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status</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affiche l’état actuel du dépôt (fichier modifié, ajouté, etc.)</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4127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add </a:t>
            </a:r>
            <a:r>
              <a:rPr lang="fr-FR" sz="2400" b="1" dirty="0" err="1">
                <a:latin typeface="Times New Roman" panose="02020603050405020304" pitchFamily="18" charset="0"/>
                <a:cs typeface="Times New Roman" panose="02020603050405020304" pitchFamily="18" charset="0"/>
              </a:rPr>
              <a:t>nom_fichier</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ajoute un fichier spécifique à l’indexe (zone de </a:t>
            </a:r>
            <a:r>
              <a:rPr lang="fr-FR" sz="2400" dirty="0" err="1">
                <a:latin typeface="Times New Roman" panose="02020603050405020304" pitchFamily="18" charset="0"/>
                <a:cs typeface="Times New Roman" panose="02020603050405020304" pitchFamily="18" charset="0"/>
              </a:rPr>
              <a:t>staging</a:t>
            </a:r>
            <a:r>
              <a:rPr lang="fr-FR" sz="2400" dirty="0">
                <a:latin typeface="Times New Roman" panose="02020603050405020304" pitchFamily="18" charset="0"/>
                <a:cs typeface="Times New Roman" panose="02020603050405020304" pitchFamily="18" charset="0"/>
              </a:rPr>
              <a:t>) </a:t>
            </a:r>
            <a:endParaRPr lang="fr-FR" sz="2400" b="1" dirty="0">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00654574-2BC3-46F5-9DC2-B0819063757F}"/>
              </a:ext>
            </a:extLst>
          </p:cNvPr>
          <p:cNvSpPr txBox="1"/>
          <p:nvPr/>
        </p:nvSpPr>
        <p:spPr>
          <a:xfrm>
            <a:off x="487680" y="2430502"/>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add .    </a:t>
            </a:r>
            <a:r>
              <a:rPr lang="fr-FR" sz="2400" dirty="0">
                <a:latin typeface="Times New Roman" panose="02020603050405020304" pitchFamily="18" charset="0"/>
                <a:cs typeface="Times New Roman" panose="02020603050405020304" pitchFamily="18" charset="0"/>
              </a:rPr>
              <a:t>: ajoute tous les  fichiers modifiés à l’index  </a:t>
            </a:r>
            <a:endParaRPr lang="fr-FR" sz="2400" b="1" dirty="0">
              <a:latin typeface="Times New Roman" panose="02020603050405020304" pitchFamily="18" charset="0"/>
              <a:cs typeface="Times New Roman" panose="02020603050405020304" pitchFamily="18" charset="0"/>
            </a:endParaRPr>
          </a:p>
        </p:txBody>
      </p:sp>
      <p:pic>
        <p:nvPicPr>
          <p:cNvPr id="8" name="Image 7">
            <a:extLst>
              <a:ext uri="{FF2B5EF4-FFF2-40B4-BE49-F238E27FC236}">
                <a16:creationId xmlns:a16="http://schemas.microsoft.com/office/drawing/2014/main" id="{FEB3B0B6-8CE3-48C3-9A59-AB7710EB71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27219"/>
            <a:ext cx="6612555" cy="3530781"/>
          </a:xfrm>
          <a:prstGeom prst="rect">
            <a:avLst/>
          </a:prstGeom>
        </p:spPr>
      </p:pic>
      <p:pic>
        <p:nvPicPr>
          <p:cNvPr id="14" name="Image 13">
            <a:extLst>
              <a:ext uri="{FF2B5EF4-FFF2-40B4-BE49-F238E27FC236}">
                <a16:creationId xmlns:a16="http://schemas.microsoft.com/office/drawing/2014/main" id="{B6DE3AC8-0249-4957-BEEA-F06391868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2556" y="3327220"/>
            <a:ext cx="5579444" cy="3530780"/>
          </a:xfrm>
          <a:prstGeom prst="rect">
            <a:avLst/>
          </a:prstGeom>
        </p:spPr>
      </p:pic>
      <p:sp>
        <p:nvSpPr>
          <p:cNvPr id="15" name="Rectangle 14">
            <a:extLst>
              <a:ext uri="{FF2B5EF4-FFF2-40B4-BE49-F238E27FC236}">
                <a16:creationId xmlns:a16="http://schemas.microsoft.com/office/drawing/2014/main" id="{1C34B166-1CEB-45A1-A361-B931156AD808}"/>
              </a:ext>
            </a:extLst>
          </p:cNvPr>
          <p:cNvSpPr/>
          <p:nvPr/>
        </p:nvSpPr>
        <p:spPr>
          <a:xfrm>
            <a:off x="0" y="3327219"/>
            <a:ext cx="3824438" cy="32316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57F8478-FD5E-4AA1-86FC-14A69BD63933}"/>
              </a:ext>
            </a:extLst>
          </p:cNvPr>
          <p:cNvSpPr/>
          <p:nvPr/>
        </p:nvSpPr>
        <p:spPr>
          <a:xfrm>
            <a:off x="6612554" y="3397486"/>
            <a:ext cx="4572001" cy="38916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19958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6073541"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Travailler avec les fichiers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rm</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nom_fichier</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supprime un fichier du suivi Git </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11994"/>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commit -m "message"    </a:t>
            </a:r>
            <a:r>
              <a:rPr lang="fr-FR" sz="2400" dirty="0">
                <a:latin typeface="Times New Roman" panose="02020603050405020304" pitchFamily="18" charset="0"/>
                <a:cs typeface="Times New Roman" panose="02020603050405020304" pitchFamily="18" charset="0"/>
              </a:rPr>
              <a:t>: enregistre les changements avec un message descriptif </a:t>
            </a:r>
            <a:endParaRPr lang="fr-FR" sz="2400" b="1" dirty="0">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74B58E07-BF2F-4F9C-A4A5-62D9B8819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12192000" cy="3429000"/>
          </a:xfrm>
          <a:prstGeom prst="rect">
            <a:avLst/>
          </a:prstGeom>
        </p:spPr>
      </p:pic>
      <p:sp>
        <p:nvSpPr>
          <p:cNvPr id="7" name="Rectangle 6">
            <a:extLst>
              <a:ext uri="{FF2B5EF4-FFF2-40B4-BE49-F238E27FC236}">
                <a16:creationId xmlns:a16="http://schemas.microsoft.com/office/drawing/2014/main" id="{352021E6-EB89-4438-9C02-62677B2BB9F5}"/>
              </a:ext>
            </a:extLst>
          </p:cNvPr>
          <p:cNvSpPr/>
          <p:nvPr/>
        </p:nvSpPr>
        <p:spPr>
          <a:xfrm>
            <a:off x="0" y="3469969"/>
            <a:ext cx="12192000" cy="80364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63E916C9-6C45-445D-96F5-95FA0DAFA956}"/>
              </a:ext>
            </a:extLst>
          </p:cNvPr>
          <p:cNvSpPr txBox="1"/>
          <p:nvPr/>
        </p:nvSpPr>
        <p:spPr>
          <a:xfrm>
            <a:off x="487680" y="247365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log    </a:t>
            </a:r>
            <a:r>
              <a:rPr lang="fr-FR" sz="2400" dirty="0">
                <a:latin typeface="Times New Roman" panose="02020603050405020304" pitchFamily="18" charset="0"/>
                <a:cs typeface="Times New Roman" panose="02020603050405020304" pitchFamily="18" charset="0"/>
              </a:rPr>
              <a:t>: affiche l’historique des </a:t>
            </a:r>
            <a:r>
              <a:rPr lang="fr-FR" sz="2400" dirty="0" err="1">
                <a:latin typeface="Times New Roman" panose="02020603050405020304" pitchFamily="18" charset="0"/>
                <a:cs typeface="Times New Roman" panose="02020603050405020304" pitchFamily="18" charset="0"/>
              </a:rPr>
              <a:t>commits</a:t>
            </a:r>
            <a:r>
              <a:rPr lang="fr-FR" sz="2400" dirty="0">
                <a:latin typeface="Times New Roman" panose="02020603050405020304" pitchFamily="18" charset="0"/>
                <a:cs typeface="Times New Roman" panose="02020603050405020304" pitchFamily="18" charset="0"/>
              </a:rPr>
              <a:t> </a:t>
            </a:r>
            <a:endParaRPr lang="fr-F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0375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6073541"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Travailler avec les fichiers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rm</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nom_fichier</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supprime un fichier du suivi Git </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11994"/>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commit –m "message"    </a:t>
            </a:r>
            <a:r>
              <a:rPr lang="fr-FR" sz="2400" dirty="0">
                <a:latin typeface="Times New Roman" panose="02020603050405020304" pitchFamily="18" charset="0"/>
                <a:cs typeface="Times New Roman" panose="02020603050405020304" pitchFamily="18" charset="0"/>
              </a:rPr>
              <a:t>: enregistre les changements avec un message descriptif </a:t>
            </a:r>
            <a:endParaRPr lang="fr-FR" sz="2400" b="1" dirty="0">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63E916C9-6C45-445D-96F5-95FA0DAFA956}"/>
              </a:ext>
            </a:extLst>
          </p:cNvPr>
          <p:cNvSpPr txBox="1"/>
          <p:nvPr/>
        </p:nvSpPr>
        <p:spPr>
          <a:xfrm>
            <a:off x="487680" y="2489665"/>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log    </a:t>
            </a:r>
            <a:r>
              <a:rPr lang="fr-FR" sz="2400" dirty="0">
                <a:latin typeface="Times New Roman" panose="02020603050405020304" pitchFamily="18" charset="0"/>
                <a:cs typeface="Times New Roman" panose="02020603050405020304" pitchFamily="18" charset="0"/>
              </a:rPr>
              <a:t>: affiche l’historique des </a:t>
            </a:r>
            <a:r>
              <a:rPr lang="fr-FR" sz="2400" dirty="0" err="1">
                <a:latin typeface="Times New Roman" panose="02020603050405020304" pitchFamily="18" charset="0"/>
                <a:cs typeface="Times New Roman" panose="02020603050405020304" pitchFamily="18" charset="0"/>
              </a:rPr>
              <a:t>commits</a:t>
            </a:r>
            <a:r>
              <a:rPr lang="fr-FR" sz="2400" dirty="0">
                <a:latin typeface="Times New Roman" panose="02020603050405020304" pitchFamily="18" charset="0"/>
                <a:cs typeface="Times New Roman" panose="02020603050405020304" pitchFamily="18" charset="0"/>
              </a:rPr>
              <a:t> </a:t>
            </a:r>
            <a:endParaRPr lang="fr-FR" sz="2400" b="1" dirty="0">
              <a:latin typeface="Times New Roman" panose="02020603050405020304" pitchFamily="18" charset="0"/>
              <a:cs typeface="Times New Roman" panose="02020603050405020304" pitchFamily="18" charset="0"/>
            </a:endParaRPr>
          </a:p>
        </p:txBody>
      </p:sp>
      <p:pic>
        <p:nvPicPr>
          <p:cNvPr id="8" name="Image 7">
            <a:extLst>
              <a:ext uri="{FF2B5EF4-FFF2-40B4-BE49-F238E27FC236}">
                <a16:creationId xmlns:a16="http://schemas.microsoft.com/office/drawing/2014/main" id="{2B7D1358-CBA5-4A7C-BCAF-69214ACB2D1F}"/>
              </a:ext>
            </a:extLst>
          </p:cNvPr>
          <p:cNvPicPr>
            <a:picLocks noChangeAspect="1"/>
          </p:cNvPicPr>
          <p:nvPr/>
        </p:nvPicPr>
        <p:blipFill>
          <a:blip r:embed="rId2"/>
          <a:stretch>
            <a:fillRect/>
          </a:stretch>
        </p:blipFill>
        <p:spPr>
          <a:xfrm>
            <a:off x="0" y="1476741"/>
            <a:ext cx="12186394" cy="5486682"/>
          </a:xfrm>
          <a:prstGeom prst="rect">
            <a:avLst/>
          </a:prstGeom>
        </p:spPr>
      </p:pic>
    </p:spTree>
    <p:extLst>
      <p:ext uri="{BB962C8B-B14F-4D97-AF65-F5344CB8AC3E}">
        <p14:creationId xmlns:p14="http://schemas.microsoft.com/office/powerpoint/2010/main" val="1286259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6073541"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Travailler avec les fichiers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rm</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nom_fichier</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supprime un fichier du suivi Git </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11994"/>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commit –m "message"    </a:t>
            </a:r>
            <a:r>
              <a:rPr lang="fr-FR" sz="2400" dirty="0">
                <a:latin typeface="Times New Roman" panose="02020603050405020304" pitchFamily="18" charset="0"/>
                <a:cs typeface="Times New Roman" panose="02020603050405020304" pitchFamily="18" charset="0"/>
              </a:rPr>
              <a:t>: enregistre les changements avec un message descriptif </a:t>
            </a:r>
            <a:endParaRPr lang="fr-FR" sz="2400" b="1" dirty="0">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74B58E07-BF2F-4F9C-A4A5-62D9B8819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12192000" cy="3429000"/>
          </a:xfrm>
          <a:prstGeom prst="rect">
            <a:avLst/>
          </a:prstGeom>
        </p:spPr>
      </p:pic>
      <p:sp>
        <p:nvSpPr>
          <p:cNvPr id="7" name="Rectangle 6">
            <a:extLst>
              <a:ext uri="{FF2B5EF4-FFF2-40B4-BE49-F238E27FC236}">
                <a16:creationId xmlns:a16="http://schemas.microsoft.com/office/drawing/2014/main" id="{352021E6-EB89-4438-9C02-62677B2BB9F5}"/>
              </a:ext>
            </a:extLst>
          </p:cNvPr>
          <p:cNvSpPr/>
          <p:nvPr/>
        </p:nvSpPr>
        <p:spPr>
          <a:xfrm>
            <a:off x="0" y="3469969"/>
            <a:ext cx="12192000" cy="80364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63E916C9-6C45-445D-96F5-95FA0DAFA956}"/>
              </a:ext>
            </a:extLst>
          </p:cNvPr>
          <p:cNvSpPr txBox="1"/>
          <p:nvPr/>
        </p:nvSpPr>
        <p:spPr>
          <a:xfrm>
            <a:off x="487680" y="2489665"/>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log    </a:t>
            </a:r>
            <a:r>
              <a:rPr lang="fr-FR" sz="2400" dirty="0">
                <a:latin typeface="Times New Roman" panose="02020603050405020304" pitchFamily="18" charset="0"/>
                <a:cs typeface="Times New Roman" panose="02020603050405020304" pitchFamily="18" charset="0"/>
              </a:rPr>
              <a:t>: affiche l’historique des </a:t>
            </a:r>
            <a:r>
              <a:rPr lang="fr-FR" sz="2400" dirty="0" err="1">
                <a:latin typeface="Times New Roman" panose="02020603050405020304" pitchFamily="18" charset="0"/>
                <a:cs typeface="Times New Roman" panose="02020603050405020304" pitchFamily="18" charset="0"/>
              </a:rPr>
              <a:t>commits</a:t>
            </a:r>
            <a:r>
              <a:rPr lang="fr-FR" sz="2400" dirty="0">
                <a:latin typeface="Times New Roman" panose="02020603050405020304" pitchFamily="18" charset="0"/>
                <a:cs typeface="Times New Roman" panose="02020603050405020304" pitchFamily="18" charset="0"/>
              </a:rPr>
              <a:t> </a:t>
            </a:r>
            <a:endParaRPr lang="fr-F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593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9355755" cy="523220"/>
          </a:xfrm>
          <a:prstGeom prst="rect">
            <a:avLst/>
          </a:prstGeom>
          <a:noFill/>
        </p:spPr>
        <p:txBody>
          <a:bodyPr wrap="square" rtlCol="0">
            <a:spAutoFit/>
          </a:bodyPr>
          <a:lstStyle/>
          <a:p>
            <a:r>
              <a:rPr lang="fr-FR" sz="2800" dirty="0" err="1">
                <a:latin typeface="Times New Roman" panose="02020603050405020304" pitchFamily="18" charset="0"/>
                <a:cs typeface="Times New Roman" panose="02020603050405020304" pitchFamily="18" charset="0"/>
              </a:rPr>
              <a:t>Branching</a:t>
            </a:r>
            <a:r>
              <a:rPr lang="fr-FR" sz="2800" dirty="0">
                <a:latin typeface="Times New Roman" panose="02020603050405020304" pitchFamily="18" charset="0"/>
                <a:cs typeface="Times New Roman" panose="02020603050405020304" pitchFamily="18" charset="0"/>
              </a:rPr>
              <a:t> (</a:t>
            </a:r>
            <a:r>
              <a:rPr lang="fr-FR" sz="2800" dirty="0">
                <a:solidFill>
                  <a:schemeClr val="accent6"/>
                </a:solidFill>
                <a:latin typeface="Times New Roman" panose="02020603050405020304" pitchFamily="18" charset="0"/>
                <a:cs typeface="Times New Roman" panose="02020603050405020304" pitchFamily="18" charset="0"/>
              </a:rPr>
              <a:t>ces commandes sont à retenir par cœur</a:t>
            </a:r>
            <a:r>
              <a:rPr lang="fr-FR" sz="2800" dirty="0">
                <a:latin typeface="Times New Roman" panose="02020603050405020304" pitchFamily="18" charset="0"/>
                <a:cs typeface="Times New Roman" panose="02020603050405020304" pitchFamily="18" charset="0"/>
              </a:rPr>
              <a:t>)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branch</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affiche toutes les branches locales  </a:t>
            </a:r>
            <a:endParaRPr lang="fr-FR" sz="2400" b="1"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11994"/>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branch</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nom_branch</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créer une nouvelle branche  </a:t>
            </a:r>
            <a:endParaRPr lang="fr-FR" sz="2400" b="1" dirty="0">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63E916C9-6C45-445D-96F5-95FA0DAFA956}"/>
              </a:ext>
            </a:extLst>
          </p:cNvPr>
          <p:cNvSpPr txBox="1"/>
          <p:nvPr/>
        </p:nvSpPr>
        <p:spPr>
          <a:xfrm>
            <a:off x="487680" y="2489665"/>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checkout</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nom_branch</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change de branche (de la branche actuelle vers celle spécifiée) </a:t>
            </a:r>
            <a:endParaRPr lang="fr-FR" sz="2400" b="1" dirty="0">
              <a:latin typeface="Times New Roman" panose="02020603050405020304" pitchFamily="18" charset="0"/>
              <a:cs typeface="Times New Roman" panose="02020603050405020304" pitchFamily="18" charset="0"/>
            </a:endParaRPr>
          </a:p>
        </p:txBody>
      </p:sp>
      <p:pic>
        <p:nvPicPr>
          <p:cNvPr id="13" name="Image 12">
            <a:extLst>
              <a:ext uri="{FF2B5EF4-FFF2-40B4-BE49-F238E27FC236}">
                <a16:creationId xmlns:a16="http://schemas.microsoft.com/office/drawing/2014/main" id="{41C8144C-A4B4-42EE-87D7-DF2F932A8F13}"/>
              </a:ext>
            </a:extLst>
          </p:cNvPr>
          <p:cNvPicPr>
            <a:picLocks noChangeAspect="1"/>
          </p:cNvPicPr>
          <p:nvPr/>
        </p:nvPicPr>
        <p:blipFill>
          <a:blip r:embed="rId2"/>
          <a:stretch>
            <a:fillRect/>
          </a:stretch>
        </p:blipFill>
        <p:spPr>
          <a:xfrm>
            <a:off x="0" y="3048208"/>
            <a:ext cx="12192000" cy="3809792"/>
          </a:xfrm>
          <a:prstGeom prst="rect">
            <a:avLst/>
          </a:prstGeom>
        </p:spPr>
      </p:pic>
      <p:sp>
        <p:nvSpPr>
          <p:cNvPr id="16" name="Rectangle 15">
            <a:extLst>
              <a:ext uri="{FF2B5EF4-FFF2-40B4-BE49-F238E27FC236}">
                <a16:creationId xmlns:a16="http://schemas.microsoft.com/office/drawing/2014/main" id="{50A6B369-FF15-4551-9770-7E3B0E00CC42}"/>
              </a:ext>
            </a:extLst>
          </p:cNvPr>
          <p:cNvSpPr/>
          <p:nvPr/>
        </p:nvSpPr>
        <p:spPr>
          <a:xfrm>
            <a:off x="8056345" y="4514248"/>
            <a:ext cx="1357162" cy="55041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AF597CF3-AE77-45DA-ADC1-799E18D6B0BA}"/>
              </a:ext>
            </a:extLst>
          </p:cNvPr>
          <p:cNvSpPr/>
          <p:nvPr/>
        </p:nvSpPr>
        <p:spPr>
          <a:xfrm>
            <a:off x="8056344" y="5953816"/>
            <a:ext cx="3416969" cy="55041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lèche : courbe vers le bas 18">
            <a:extLst>
              <a:ext uri="{FF2B5EF4-FFF2-40B4-BE49-F238E27FC236}">
                <a16:creationId xmlns:a16="http://schemas.microsoft.com/office/drawing/2014/main" id="{B034AADC-A050-49A7-A969-F04AA4E1018F}"/>
              </a:ext>
            </a:extLst>
          </p:cNvPr>
          <p:cNvSpPr/>
          <p:nvPr/>
        </p:nvSpPr>
        <p:spPr>
          <a:xfrm rot="2350017">
            <a:off x="9587098" y="4547272"/>
            <a:ext cx="1915427" cy="914400"/>
          </a:xfrm>
          <a:prstGeom prst="curved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23388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535E8-61A2-4412-A787-F000C2801C4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9355755" cy="523220"/>
          </a:xfrm>
          <a:prstGeom prst="rect">
            <a:avLst/>
          </a:prstGeom>
          <a:noFill/>
        </p:spPr>
        <p:txBody>
          <a:bodyPr wrap="square" rtlCol="0">
            <a:spAutoFit/>
          </a:bodyPr>
          <a:lstStyle/>
          <a:p>
            <a:r>
              <a:rPr lang="fr-FR" sz="2800" dirty="0" err="1">
                <a:latin typeface="Times New Roman" panose="02020603050405020304" pitchFamily="18" charset="0"/>
                <a:cs typeface="Times New Roman" panose="02020603050405020304" pitchFamily="18" charset="0"/>
              </a:rPr>
              <a:t>Branching</a:t>
            </a:r>
            <a:r>
              <a:rPr lang="fr-FR" sz="2800" dirty="0">
                <a:latin typeface="Times New Roman" panose="02020603050405020304" pitchFamily="18" charset="0"/>
                <a:cs typeface="Times New Roman" panose="02020603050405020304" pitchFamily="18" charset="0"/>
              </a:rPr>
              <a:t> (</a:t>
            </a:r>
            <a:r>
              <a:rPr lang="fr-FR" sz="2800" dirty="0">
                <a:solidFill>
                  <a:schemeClr val="accent6"/>
                </a:solidFill>
                <a:latin typeface="Times New Roman" panose="02020603050405020304" pitchFamily="18" charset="0"/>
                <a:cs typeface="Times New Roman" panose="02020603050405020304" pitchFamily="18" charset="0"/>
              </a:rPr>
              <a:t>ces commandes sont à retenir par cœur</a:t>
            </a:r>
            <a:r>
              <a:rPr lang="fr-FR" sz="2800" dirty="0">
                <a:latin typeface="Times New Roman" panose="02020603050405020304" pitchFamily="18" charset="0"/>
                <a:cs typeface="Times New Roman" panose="02020603050405020304" pitchFamily="18" charset="0"/>
              </a:rPr>
              <a:t>)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merge </a:t>
            </a:r>
            <a:r>
              <a:rPr lang="fr-FR" sz="2400" b="1" dirty="0" err="1">
                <a:latin typeface="Times New Roman" panose="02020603050405020304" pitchFamily="18" charset="0"/>
                <a:cs typeface="Times New Roman" panose="02020603050405020304" pitchFamily="18" charset="0"/>
              </a:rPr>
              <a:t>nom_branch</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fusionne une branche à la branche courante (</a:t>
            </a:r>
            <a:r>
              <a:rPr lang="fr-FR" sz="2400" dirty="0">
                <a:solidFill>
                  <a:srgbClr val="FF0000"/>
                </a:solidFill>
                <a:latin typeface="Times New Roman" panose="02020603050405020304" pitchFamily="18" charset="0"/>
                <a:cs typeface="Times New Roman" panose="02020603050405020304" pitchFamily="18" charset="0"/>
              </a:rPr>
              <a:t>ATTENTION!) </a:t>
            </a:r>
            <a:endParaRPr lang="fr-FR" sz="2400" b="1" dirty="0">
              <a:solidFill>
                <a:srgbClr val="FF0000"/>
              </a:solidFill>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11994"/>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branch</a:t>
            </a:r>
            <a:r>
              <a:rPr lang="fr-FR" sz="2400" b="1" dirty="0">
                <a:latin typeface="Times New Roman" panose="02020603050405020304" pitchFamily="18" charset="0"/>
                <a:cs typeface="Times New Roman" panose="02020603050405020304" pitchFamily="18" charset="0"/>
              </a:rPr>
              <a:t> -d </a:t>
            </a:r>
            <a:r>
              <a:rPr lang="fr-FR" sz="2400" b="1" dirty="0" err="1">
                <a:latin typeface="Times New Roman" panose="02020603050405020304" pitchFamily="18" charset="0"/>
                <a:cs typeface="Times New Roman" panose="02020603050405020304" pitchFamily="18" charset="0"/>
              </a:rPr>
              <a:t>nom_branch</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supprime une branche locale</a:t>
            </a:r>
            <a:endParaRPr lang="fr-FR" sz="2400" b="1" dirty="0">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63E916C9-6C45-445D-96F5-95FA0DAFA956}"/>
              </a:ext>
            </a:extLst>
          </p:cNvPr>
          <p:cNvSpPr txBox="1"/>
          <p:nvPr/>
        </p:nvSpPr>
        <p:spPr>
          <a:xfrm>
            <a:off x="487680" y="2489665"/>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switch </a:t>
            </a:r>
            <a:r>
              <a:rPr lang="fr-FR" sz="2400" b="1" dirty="0" err="1">
                <a:latin typeface="Times New Roman" panose="02020603050405020304" pitchFamily="18" charset="0"/>
                <a:cs typeface="Times New Roman" panose="02020603050405020304" pitchFamily="18" charset="0"/>
              </a:rPr>
              <a:t>nom_branch</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change de branche (de la branche actuelle vers celle spécifiée) </a:t>
            </a:r>
            <a:endParaRPr lang="fr-FR" sz="2400" b="1" dirty="0">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2548FDF0-AED3-4F75-9BAA-13B25B9D6C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68610"/>
            <a:ext cx="12192000" cy="3889390"/>
          </a:xfrm>
          <a:prstGeom prst="rect">
            <a:avLst/>
          </a:prstGeom>
        </p:spPr>
      </p:pic>
    </p:spTree>
    <p:extLst>
      <p:ext uri="{BB962C8B-B14F-4D97-AF65-F5344CB8AC3E}">
        <p14:creationId xmlns:p14="http://schemas.microsoft.com/office/powerpoint/2010/main" val="4165959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11386686"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Synchronisation avec le dépôt distant (</a:t>
            </a:r>
            <a:r>
              <a:rPr lang="fr-FR" sz="2800" dirty="0">
                <a:solidFill>
                  <a:schemeClr val="accent6"/>
                </a:solidFill>
                <a:latin typeface="Times New Roman" panose="02020603050405020304" pitchFamily="18" charset="0"/>
                <a:cs typeface="Times New Roman" panose="02020603050405020304" pitchFamily="18" charset="0"/>
              </a:rPr>
              <a:t>ces commandes sont à retenir par cœur</a:t>
            </a:r>
            <a:r>
              <a:rPr lang="fr-FR" sz="2800" dirty="0">
                <a:latin typeface="Times New Roman" panose="02020603050405020304" pitchFamily="18" charset="0"/>
                <a:cs typeface="Times New Roman" panose="02020603050405020304" pitchFamily="18" charset="0"/>
              </a:rPr>
              <a:t>)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487680" y="1550329"/>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a:t>
            </a:r>
            <a:r>
              <a:rPr lang="fr-FR" sz="2400" b="1" dirty="0" err="1">
                <a:latin typeface="Times New Roman" panose="02020603050405020304" pitchFamily="18" charset="0"/>
                <a:cs typeface="Times New Roman" panose="02020603050405020304" pitchFamily="18" charset="0"/>
              </a:rPr>
              <a:t>remote</a:t>
            </a:r>
            <a:r>
              <a:rPr lang="fr-FR" sz="2400" b="1" dirty="0">
                <a:latin typeface="Times New Roman" panose="02020603050405020304" pitchFamily="18" charset="0"/>
                <a:cs typeface="Times New Roman" panose="02020603050405020304" pitchFamily="18" charset="0"/>
              </a:rPr>
              <a:t> add </a:t>
            </a:r>
            <a:r>
              <a:rPr lang="fr-FR" sz="2400" b="1" dirty="0" err="1">
                <a:latin typeface="Times New Roman" panose="02020603050405020304" pitchFamily="18" charset="0"/>
                <a:cs typeface="Times New Roman" panose="02020603050405020304" pitchFamily="18" charset="0"/>
              </a:rPr>
              <a:t>origin</a:t>
            </a:r>
            <a:r>
              <a:rPr lang="fr-FR" sz="2400" b="1" dirty="0">
                <a:latin typeface="Times New Roman" panose="02020603050405020304" pitchFamily="18" charset="0"/>
                <a:cs typeface="Times New Roman" panose="02020603050405020304" pitchFamily="18" charset="0"/>
              </a:rPr>
              <a:t> url   </a:t>
            </a:r>
            <a:r>
              <a:rPr lang="fr-FR" sz="2400" dirty="0">
                <a:latin typeface="Times New Roman" panose="02020603050405020304" pitchFamily="18" charset="0"/>
                <a:cs typeface="Times New Roman" panose="02020603050405020304" pitchFamily="18" charset="0"/>
              </a:rPr>
              <a:t>: lie votre dépôt local à un dépôt distant  </a:t>
            </a:r>
            <a:endParaRPr lang="fr-FR" sz="2400" b="1" dirty="0">
              <a:solidFill>
                <a:srgbClr val="FF0000"/>
              </a:solidFill>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C13960C-5B7D-4C0B-982B-9D28FF521382}"/>
              </a:ext>
            </a:extLst>
          </p:cNvPr>
          <p:cNvSpPr txBox="1"/>
          <p:nvPr/>
        </p:nvSpPr>
        <p:spPr>
          <a:xfrm>
            <a:off x="487680" y="2011994"/>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push -u </a:t>
            </a:r>
            <a:r>
              <a:rPr lang="fr-FR" sz="2400" b="1" dirty="0" err="1">
                <a:latin typeface="Times New Roman" panose="02020603050405020304" pitchFamily="18" charset="0"/>
                <a:cs typeface="Times New Roman" panose="02020603050405020304" pitchFamily="18" charset="0"/>
              </a:rPr>
              <a:t>origin</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nom_branche</a:t>
            </a:r>
            <a:r>
              <a:rPr lang="fr-FR" sz="2400" b="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envoie les </a:t>
            </a:r>
            <a:r>
              <a:rPr lang="fr-FR" sz="2400" dirty="0" err="1">
                <a:latin typeface="Times New Roman" panose="02020603050405020304" pitchFamily="18" charset="0"/>
                <a:cs typeface="Times New Roman" panose="02020603050405020304" pitchFamily="18" charset="0"/>
              </a:rPr>
              <a:t>commits</a:t>
            </a:r>
            <a:r>
              <a:rPr lang="fr-FR" sz="2400" dirty="0">
                <a:latin typeface="Times New Roman" panose="02020603050405020304" pitchFamily="18" charset="0"/>
                <a:cs typeface="Times New Roman" panose="02020603050405020304" pitchFamily="18" charset="0"/>
              </a:rPr>
              <a:t> locaux vers le dépôt distant  </a:t>
            </a:r>
            <a:endParaRPr lang="fr-FR" sz="2400" b="1" dirty="0">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63E916C9-6C45-445D-96F5-95FA0DAFA956}"/>
              </a:ext>
            </a:extLst>
          </p:cNvPr>
          <p:cNvSpPr txBox="1"/>
          <p:nvPr/>
        </p:nvSpPr>
        <p:spPr>
          <a:xfrm>
            <a:off x="487680" y="2489665"/>
            <a:ext cx="11704320"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git pull   </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récupere</a:t>
            </a:r>
            <a:r>
              <a:rPr lang="fr-FR" sz="2400" dirty="0">
                <a:latin typeface="Times New Roman" panose="02020603050405020304" pitchFamily="18" charset="0"/>
                <a:cs typeface="Times New Roman" panose="02020603050405020304" pitchFamily="18" charset="0"/>
              </a:rPr>
              <a:t> et fusionne les changements du dépôt distant  </a:t>
            </a:r>
            <a:endParaRPr lang="fr-FR" sz="2400" b="1" dirty="0">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7751C418-8E94-4EA5-9166-E8C064C4F6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55745"/>
            <a:ext cx="12192000" cy="3595036"/>
          </a:xfrm>
          <a:prstGeom prst="rect">
            <a:avLst/>
          </a:prstGeom>
        </p:spPr>
      </p:pic>
    </p:spTree>
    <p:extLst>
      <p:ext uri="{BB962C8B-B14F-4D97-AF65-F5344CB8AC3E}">
        <p14:creationId xmlns:p14="http://schemas.microsoft.com/office/powerpoint/2010/main" val="4003236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4" y="953521"/>
            <a:ext cx="11386686"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Synchronisation avec le dépôt distant (</a:t>
            </a:r>
            <a:r>
              <a:rPr lang="fr-FR" sz="2800" dirty="0">
                <a:solidFill>
                  <a:schemeClr val="accent6"/>
                </a:solidFill>
                <a:latin typeface="Times New Roman" panose="02020603050405020304" pitchFamily="18" charset="0"/>
                <a:cs typeface="Times New Roman" panose="02020603050405020304" pitchFamily="18" charset="0"/>
              </a:rPr>
              <a:t>ces commandes sont à retenir par cœur</a:t>
            </a:r>
            <a:r>
              <a:rPr lang="fr-FR" sz="2800" dirty="0">
                <a:latin typeface="Times New Roman" panose="02020603050405020304" pitchFamily="18" charset="0"/>
                <a:cs typeface="Times New Roman" panose="02020603050405020304" pitchFamily="18" charset="0"/>
              </a:rPr>
              <a:t>) </a:t>
            </a:r>
          </a:p>
        </p:txBody>
      </p:sp>
      <p:sp>
        <p:nvSpPr>
          <p:cNvPr id="11" name="ZoneTexte 10">
            <a:extLst>
              <a:ext uri="{FF2B5EF4-FFF2-40B4-BE49-F238E27FC236}">
                <a16:creationId xmlns:a16="http://schemas.microsoft.com/office/drawing/2014/main" id="{5F73401A-7C3F-4986-B3D8-D15B8877125D}"/>
              </a:ext>
            </a:extLst>
          </p:cNvPr>
          <p:cNvSpPr txBox="1"/>
          <p:nvPr/>
        </p:nvSpPr>
        <p:spPr>
          <a:xfrm>
            <a:off x="3651183" y="1800585"/>
            <a:ext cx="4889634" cy="584775"/>
          </a:xfrm>
          <a:prstGeom prst="rect">
            <a:avLst/>
          </a:prstGeom>
          <a:noFill/>
        </p:spPr>
        <p:txBody>
          <a:bodyPr wrap="square" rtlCol="0">
            <a:spAutoFit/>
          </a:bodyPr>
          <a:lstStyle/>
          <a:p>
            <a:r>
              <a:rPr lang="fr-FR" sz="3200" b="1" dirty="0">
                <a:latin typeface="Times New Roman" panose="02020603050405020304" pitchFamily="18" charset="0"/>
                <a:cs typeface="Times New Roman" panose="02020603050405020304" pitchFamily="18" charset="0"/>
              </a:rPr>
              <a:t>git </a:t>
            </a:r>
            <a:r>
              <a:rPr lang="fr-FR" sz="3200" b="1" dirty="0" err="1">
                <a:latin typeface="Times New Roman" panose="02020603050405020304" pitchFamily="18" charset="0"/>
                <a:cs typeface="Times New Roman" panose="02020603050405020304" pitchFamily="18" charset="0"/>
              </a:rPr>
              <a:t>remote</a:t>
            </a:r>
            <a:r>
              <a:rPr lang="fr-FR" sz="3200" b="1" dirty="0">
                <a:latin typeface="Times New Roman" panose="02020603050405020304" pitchFamily="18" charset="0"/>
                <a:cs typeface="Times New Roman" panose="02020603050405020304" pitchFamily="18" charset="0"/>
              </a:rPr>
              <a:t> add </a:t>
            </a:r>
            <a:r>
              <a:rPr lang="fr-FR" sz="3200" b="1" dirty="0" err="1">
                <a:latin typeface="Times New Roman" panose="02020603050405020304" pitchFamily="18" charset="0"/>
                <a:cs typeface="Times New Roman" panose="02020603050405020304" pitchFamily="18" charset="0"/>
              </a:rPr>
              <a:t>origin</a:t>
            </a:r>
            <a:r>
              <a:rPr lang="fr-FR" sz="3200" b="1" dirty="0">
                <a:latin typeface="Times New Roman" panose="02020603050405020304" pitchFamily="18" charset="0"/>
                <a:cs typeface="Times New Roman" panose="02020603050405020304" pitchFamily="18" charset="0"/>
              </a:rPr>
              <a:t> url   </a:t>
            </a:r>
            <a:r>
              <a:rPr lang="fr-FR" sz="3200" dirty="0">
                <a:latin typeface="Times New Roman" panose="02020603050405020304" pitchFamily="18" charset="0"/>
                <a:cs typeface="Times New Roman" panose="02020603050405020304" pitchFamily="18" charset="0"/>
              </a:rPr>
              <a:t> </a:t>
            </a:r>
            <a:endParaRPr lang="fr-FR" sz="3200" b="1" dirty="0">
              <a:solidFill>
                <a:srgbClr val="FF0000"/>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1028B0B1-5CC3-48D3-9D05-72323BDB0ABE}"/>
              </a:ext>
            </a:extLst>
          </p:cNvPr>
          <p:cNvSpPr txBox="1"/>
          <p:nvPr/>
        </p:nvSpPr>
        <p:spPr>
          <a:xfrm>
            <a:off x="2926881" y="2995374"/>
            <a:ext cx="1268930" cy="584775"/>
          </a:xfrm>
          <a:prstGeom prst="rect">
            <a:avLst/>
          </a:prstGeom>
          <a:noFill/>
        </p:spPr>
        <p:txBody>
          <a:bodyPr wrap="square" rtlCol="0">
            <a:spAutoFit/>
          </a:bodyPr>
          <a:lstStyle/>
          <a:p>
            <a:r>
              <a:rPr lang="fr-FR" sz="3200" b="1" dirty="0">
                <a:latin typeface="Times New Roman" panose="02020603050405020304" pitchFamily="18" charset="0"/>
                <a:cs typeface="Times New Roman" panose="02020603050405020304" pitchFamily="18" charset="0"/>
              </a:rPr>
              <a:t>Local   </a:t>
            </a:r>
            <a:r>
              <a:rPr lang="fr-FR" sz="3200" dirty="0">
                <a:latin typeface="Times New Roman" panose="02020603050405020304" pitchFamily="18" charset="0"/>
                <a:cs typeface="Times New Roman" panose="02020603050405020304" pitchFamily="18" charset="0"/>
              </a:rPr>
              <a:t> </a:t>
            </a:r>
            <a:endParaRPr lang="fr-FR" sz="3200" b="1" dirty="0">
              <a:solidFill>
                <a:srgbClr val="FF0000"/>
              </a:solidFill>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AB2D2F68-C1B5-44AC-978D-46F275725EF8}"/>
              </a:ext>
            </a:extLst>
          </p:cNvPr>
          <p:cNvSpPr txBox="1"/>
          <p:nvPr/>
        </p:nvSpPr>
        <p:spPr>
          <a:xfrm>
            <a:off x="8327460" y="3021959"/>
            <a:ext cx="1981200" cy="523220"/>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Cloud </a:t>
            </a:r>
            <a:r>
              <a:rPr lang="fr-FR" sz="2800" dirty="0">
                <a:latin typeface="Times New Roman" panose="02020603050405020304" pitchFamily="18" charset="0"/>
                <a:cs typeface="Times New Roman" panose="02020603050405020304" pitchFamily="18" charset="0"/>
              </a:rPr>
              <a:t> </a:t>
            </a:r>
            <a:endParaRPr lang="fr-FR" sz="2800" b="1" dirty="0">
              <a:solidFill>
                <a:srgbClr val="FF0000"/>
              </a:solidFill>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9904C939-CE13-4DCD-BE2D-64C7A18AF63C}"/>
              </a:ext>
            </a:extLst>
          </p:cNvPr>
          <p:cNvSpPr txBox="1"/>
          <p:nvPr/>
        </p:nvSpPr>
        <p:spPr>
          <a:xfrm>
            <a:off x="4926532" y="4180253"/>
            <a:ext cx="2555507" cy="584775"/>
          </a:xfrm>
          <a:prstGeom prst="rect">
            <a:avLst/>
          </a:prstGeom>
          <a:noFill/>
        </p:spPr>
        <p:txBody>
          <a:bodyPr wrap="square" rtlCol="0">
            <a:spAutoFit/>
          </a:bodyPr>
          <a:lstStyle/>
          <a:p>
            <a:r>
              <a:rPr lang="fr-FR" sz="3200" b="1" dirty="0">
                <a:latin typeface="Times New Roman" panose="02020603050405020304" pitchFamily="18" charset="0"/>
                <a:cs typeface="Times New Roman" panose="02020603050405020304" pitchFamily="18" charset="0"/>
              </a:rPr>
              <a:t>git clone url   </a:t>
            </a:r>
            <a:r>
              <a:rPr lang="fr-FR" sz="3200" dirty="0">
                <a:latin typeface="Times New Roman" panose="02020603050405020304" pitchFamily="18" charset="0"/>
                <a:cs typeface="Times New Roman" panose="02020603050405020304" pitchFamily="18" charset="0"/>
              </a:rPr>
              <a:t> </a:t>
            </a:r>
            <a:endParaRPr lang="fr-FR" sz="3200" b="1" dirty="0">
              <a:solidFill>
                <a:srgbClr val="FF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E0894DA-8605-4151-B1CE-49D3511224C2}"/>
              </a:ext>
            </a:extLst>
          </p:cNvPr>
          <p:cNvSpPr/>
          <p:nvPr/>
        </p:nvSpPr>
        <p:spPr>
          <a:xfrm>
            <a:off x="2743200" y="2995374"/>
            <a:ext cx="1552876" cy="584775"/>
          </a:xfrm>
          <a:prstGeom prst="rect">
            <a:avLst/>
          </a:prstGeom>
          <a:no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23A4AC0-6FCC-40C2-951F-6B04CEA43986}"/>
              </a:ext>
            </a:extLst>
          </p:cNvPr>
          <p:cNvSpPr/>
          <p:nvPr/>
        </p:nvSpPr>
        <p:spPr>
          <a:xfrm>
            <a:off x="8227195" y="2990417"/>
            <a:ext cx="1552876" cy="584775"/>
          </a:xfrm>
          <a:prstGeom prst="rect">
            <a:avLst/>
          </a:prstGeom>
          <a:no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lèche : droite 4">
            <a:extLst>
              <a:ext uri="{FF2B5EF4-FFF2-40B4-BE49-F238E27FC236}">
                <a16:creationId xmlns:a16="http://schemas.microsoft.com/office/drawing/2014/main" id="{267FCDD6-89DC-4B06-9A55-95386EC5588A}"/>
              </a:ext>
            </a:extLst>
          </p:cNvPr>
          <p:cNvSpPr/>
          <p:nvPr/>
        </p:nvSpPr>
        <p:spPr>
          <a:xfrm>
            <a:off x="5041231" y="3125437"/>
            <a:ext cx="2440808" cy="29238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7C38B0BE-0846-47FF-BBF8-011CBB238BD8}"/>
              </a:ext>
            </a:extLst>
          </p:cNvPr>
          <p:cNvSpPr txBox="1"/>
          <p:nvPr/>
        </p:nvSpPr>
        <p:spPr>
          <a:xfrm>
            <a:off x="2926881" y="5210006"/>
            <a:ext cx="1268930" cy="584775"/>
          </a:xfrm>
          <a:prstGeom prst="rect">
            <a:avLst/>
          </a:prstGeom>
          <a:noFill/>
        </p:spPr>
        <p:txBody>
          <a:bodyPr wrap="square" rtlCol="0">
            <a:spAutoFit/>
          </a:bodyPr>
          <a:lstStyle/>
          <a:p>
            <a:r>
              <a:rPr lang="fr-FR" sz="3200" b="1" dirty="0">
                <a:latin typeface="Times New Roman" panose="02020603050405020304" pitchFamily="18" charset="0"/>
                <a:cs typeface="Times New Roman" panose="02020603050405020304" pitchFamily="18" charset="0"/>
              </a:rPr>
              <a:t>Local   </a:t>
            </a:r>
            <a:r>
              <a:rPr lang="fr-FR" sz="3200" dirty="0">
                <a:latin typeface="Times New Roman" panose="02020603050405020304" pitchFamily="18" charset="0"/>
                <a:cs typeface="Times New Roman" panose="02020603050405020304" pitchFamily="18" charset="0"/>
              </a:rPr>
              <a:t> </a:t>
            </a:r>
            <a:endParaRPr lang="fr-FR" sz="3200" b="1" dirty="0">
              <a:solidFill>
                <a:srgbClr val="FF0000"/>
              </a:solidFill>
              <a:latin typeface="Times New Roman" panose="02020603050405020304" pitchFamily="18" charset="0"/>
              <a:cs typeface="Times New Roman" panose="02020603050405020304" pitchFamily="18" charset="0"/>
            </a:endParaRPr>
          </a:p>
        </p:txBody>
      </p:sp>
      <p:sp>
        <p:nvSpPr>
          <p:cNvPr id="16" name="ZoneTexte 15">
            <a:extLst>
              <a:ext uri="{FF2B5EF4-FFF2-40B4-BE49-F238E27FC236}">
                <a16:creationId xmlns:a16="http://schemas.microsoft.com/office/drawing/2014/main" id="{9904DBE5-8546-4C13-BF92-073C10FF1A4F}"/>
              </a:ext>
            </a:extLst>
          </p:cNvPr>
          <p:cNvSpPr txBox="1"/>
          <p:nvPr/>
        </p:nvSpPr>
        <p:spPr>
          <a:xfrm>
            <a:off x="8327460" y="5236591"/>
            <a:ext cx="1981200" cy="523220"/>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Cloud </a:t>
            </a:r>
            <a:r>
              <a:rPr lang="fr-FR" sz="2800" dirty="0">
                <a:latin typeface="Times New Roman" panose="02020603050405020304" pitchFamily="18" charset="0"/>
                <a:cs typeface="Times New Roman" panose="02020603050405020304" pitchFamily="18" charset="0"/>
              </a:rPr>
              <a:t> </a:t>
            </a:r>
            <a:endParaRPr lang="fr-FR" sz="2800" b="1" dirty="0">
              <a:solidFill>
                <a:srgbClr val="FF0000"/>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9C5F1642-0810-4439-A80E-682CCCC3DFD2}"/>
              </a:ext>
            </a:extLst>
          </p:cNvPr>
          <p:cNvSpPr/>
          <p:nvPr/>
        </p:nvSpPr>
        <p:spPr>
          <a:xfrm>
            <a:off x="2743200" y="5210006"/>
            <a:ext cx="1552876" cy="584775"/>
          </a:xfrm>
          <a:prstGeom prst="rect">
            <a:avLst/>
          </a:prstGeom>
          <a:no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880C141A-5EB0-480B-9D34-698A7676856F}"/>
              </a:ext>
            </a:extLst>
          </p:cNvPr>
          <p:cNvSpPr/>
          <p:nvPr/>
        </p:nvSpPr>
        <p:spPr>
          <a:xfrm>
            <a:off x="8227195" y="5205049"/>
            <a:ext cx="1552876" cy="584775"/>
          </a:xfrm>
          <a:prstGeom prst="rect">
            <a:avLst/>
          </a:prstGeom>
          <a:no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lèche : droite 18">
            <a:extLst>
              <a:ext uri="{FF2B5EF4-FFF2-40B4-BE49-F238E27FC236}">
                <a16:creationId xmlns:a16="http://schemas.microsoft.com/office/drawing/2014/main" id="{319653B8-457D-4C47-85E4-66567611C61D}"/>
              </a:ext>
            </a:extLst>
          </p:cNvPr>
          <p:cNvSpPr/>
          <p:nvPr/>
        </p:nvSpPr>
        <p:spPr>
          <a:xfrm rot="10800000">
            <a:off x="5041231" y="5340069"/>
            <a:ext cx="2440808" cy="29238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31088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sp>
        <p:nvSpPr>
          <p:cNvPr id="3" name="ZoneTexte 2">
            <a:extLst>
              <a:ext uri="{FF2B5EF4-FFF2-40B4-BE49-F238E27FC236}">
                <a16:creationId xmlns:a16="http://schemas.microsoft.com/office/drawing/2014/main" id="{9826D883-04C2-4177-BEA9-FB07A840EC8A}"/>
              </a:ext>
            </a:extLst>
          </p:cNvPr>
          <p:cNvSpPr txBox="1"/>
          <p:nvPr/>
        </p:nvSpPr>
        <p:spPr>
          <a:xfrm>
            <a:off x="317633" y="953521"/>
            <a:ext cx="11874367"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Les quatre commandes les plus </a:t>
            </a:r>
            <a:r>
              <a:rPr lang="fr-FR" sz="2800" u="sng" dirty="0">
                <a:latin typeface="Times New Roman" panose="02020603050405020304" pitchFamily="18" charset="0"/>
                <a:cs typeface="Times New Roman" panose="02020603050405020304" pitchFamily="18" charset="0"/>
              </a:rPr>
              <a:t>importantes</a:t>
            </a:r>
            <a:r>
              <a:rPr lang="fr-FR" sz="2800" dirty="0">
                <a:latin typeface="Times New Roman" panose="02020603050405020304" pitchFamily="18" charset="0"/>
                <a:cs typeface="Times New Roman" panose="02020603050405020304" pitchFamily="18" charset="0"/>
              </a:rPr>
              <a:t> (</a:t>
            </a:r>
            <a:r>
              <a:rPr lang="fr-FR" sz="2800" dirty="0">
                <a:solidFill>
                  <a:schemeClr val="accent6"/>
                </a:solidFill>
                <a:latin typeface="Times New Roman" panose="02020603050405020304" pitchFamily="18" charset="0"/>
                <a:cs typeface="Times New Roman" panose="02020603050405020304" pitchFamily="18" charset="0"/>
              </a:rPr>
              <a:t>ordre d’exécution à retenir par cœur</a:t>
            </a:r>
            <a:r>
              <a:rPr lang="fr-FR" sz="2800" dirty="0">
                <a:latin typeface="Times New Roman" panose="02020603050405020304" pitchFamily="18" charset="0"/>
                <a:cs typeface="Times New Roman" panose="02020603050405020304" pitchFamily="18" charset="0"/>
              </a:rPr>
              <a:t>)</a:t>
            </a:r>
          </a:p>
        </p:txBody>
      </p:sp>
      <p:pic>
        <p:nvPicPr>
          <p:cNvPr id="12" name="Image 11">
            <a:extLst>
              <a:ext uri="{FF2B5EF4-FFF2-40B4-BE49-F238E27FC236}">
                <a16:creationId xmlns:a16="http://schemas.microsoft.com/office/drawing/2014/main" id="{0B1BDC80-B2F0-4EBC-928A-9C737855898D}"/>
              </a:ext>
            </a:extLst>
          </p:cNvPr>
          <p:cNvPicPr>
            <a:picLocks noChangeAspect="1"/>
          </p:cNvPicPr>
          <p:nvPr/>
        </p:nvPicPr>
        <p:blipFill>
          <a:blip r:embed="rId2"/>
          <a:stretch>
            <a:fillRect/>
          </a:stretch>
        </p:blipFill>
        <p:spPr>
          <a:xfrm>
            <a:off x="1135715" y="1617043"/>
            <a:ext cx="9920570" cy="4446873"/>
          </a:xfrm>
          <a:prstGeom prst="rect">
            <a:avLst/>
          </a:prstGeom>
        </p:spPr>
      </p:pic>
      <p:sp>
        <p:nvSpPr>
          <p:cNvPr id="20" name="ZoneTexte 19">
            <a:extLst>
              <a:ext uri="{FF2B5EF4-FFF2-40B4-BE49-F238E27FC236}">
                <a16:creationId xmlns:a16="http://schemas.microsoft.com/office/drawing/2014/main" id="{AB278D7F-4798-437E-ABE0-484757FB2B39}"/>
              </a:ext>
            </a:extLst>
          </p:cNvPr>
          <p:cNvSpPr txBox="1"/>
          <p:nvPr/>
        </p:nvSpPr>
        <p:spPr>
          <a:xfrm>
            <a:off x="1472665" y="6236550"/>
            <a:ext cx="8835991" cy="523220"/>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NB :</a:t>
            </a:r>
            <a:r>
              <a:rPr lang="fr-FR" sz="2800" dirty="0">
                <a:latin typeface="Times New Roman" panose="02020603050405020304" pitchFamily="18" charset="0"/>
                <a:cs typeface="Times New Roman" panose="02020603050405020304" pitchFamily="18" charset="0"/>
              </a:rPr>
              <a:t> À connaître par cœur et dans cet ordre d’exécution !!!</a:t>
            </a:r>
            <a:endParaRPr lang="fr-FR"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2953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BE7D1F0-4380-435E-8F92-35E2D16C7D3F}"/>
              </a:ext>
            </a:extLst>
          </p:cNvPr>
          <p:cNvSpPr txBox="1"/>
          <p:nvPr/>
        </p:nvSpPr>
        <p:spPr>
          <a:xfrm>
            <a:off x="3824438" y="134034"/>
            <a:ext cx="4543124" cy="646331"/>
          </a:xfrm>
          <a:prstGeom prst="rect">
            <a:avLst/>
          </a:prstGeom>
          <a:noFill/>
        </p:spPr>
        <p:txBody>
          <a:bodyPr wrap="square" rtlCol="0">
            <a:spAutoFit/>
          </a:bodyPr>
          <a:lstStyle/>
          <a:p>
            <a:r>
              <a:rPr lang="fr-FR" sz="3600" b="1" dirty="0">
                <a:latin typeface="Times New Roman" panose="02020603050405020304" pitchFamily="18" charset="0"/>
                <a:cs typeface="Times New Roman" panose="02020603050405020304" pitchFamily="18" charset="0"/>
              </a:rPr>
              <a:t>Les commandes Git </a:t>
            </a:r>
          </a:p>
        </p:txBody>
      </p:sp>
      <p:pic>
        <p:nvPicPr>
          <p:cNvPr id="7" name="Image 6">
            <a:extLst>
              <a:ext uri="{FF2B5EF4-FFF2-40B4-BE49-F238E27FC236}">
                <a16:creationId xmlns:a16="http://schemas.microsoft.com/office/drawing/2014/main" id="{DBB81A7E-697A-44A0-B576-E18D62F8B6D7}"/>
              </a:ext>
            </a:extLst>
          </p:cNvPr>
          <p:cNvPicPr>
            <a:picLocks noChangeAspect="1"/>
          </p:cNvPicPr>
          <p:nvPr/>
        </p:nvPicPr>
        <p:blipFill>
          <a:blip r:embed="rId2"/>
          <a:stretch>
            <a:fillRect/>
          </a:stretch>
        </p:blipFill>
        <p:spPr>
          <a:xfrm>
            <a:off x="0" y="0"/>
            <a:ext cx="12192000" cy="6858000"/>
          </a:xfrm>
          <a:prstGeom prst="rect">
            <a:avLst/>
          </a:prstGeom>
        </p:spPr>
      </p:pic>
      <p:sp>
        <p:nvSpPr>
          <p:cNvPr id="9" name="Ellipse 8">
            <a:extLst>
              <a:ext uri="{FF2B5EF4-FFF2-40B4-BE49-F238E27FC236}">
                <a16:creationId xmlns:a16="http://schemas.microsoft.com/office/drawing/2014/main" id="{6FC4F002-7EF1-40A8-A6CD-CFF763D19624}"/>
              </a:ext>
            </a:extLst>
          </p:cNvPr>
          <p:cNvSpPr/>
          <p:nvPr/>
        </p:nvSpPr>
        <p:spPr>
          <a:xfrm>
            <a:off x="10603831" y="1212783"/>
            <a:ext cx="1588169" cy="1318661"/>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Connecteur droit avec flèche 19">
            <a:extLst>
              <a:ext uri="{FF2B5EF4-FFF2-40B4-BE49-F238E27FC236}">
                <a16:creationId xmlns:a16="http://schemas.microsoft.com/office/drawing/2014/main" id="{0FB80368-E55F-4B5E-9259-DA1D12AB582E}"/>
              </a:ext>
            </a:extLst>
          </p:cNvPr>
          <p:cNvCxnSpPr/>
          <p:nvPr/>
        </p:nvCxnSpPr>
        <p:spPr>
          <a:xfrm flipV="1">
            <a:off x="9403882" y="2261937"/>
            <a:ext cx="1199949" cy="14052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1D8A8D89-6B70-4B1A-BEF9-348DD08E9736}"/>
              </a:ext>
            </a:extLst>
          </p:cNvPr>
          <p:cNvCxnSpPr/>
          <p:nvPr/>
        </p:nvCxnSpPr>
        <p:spPr>
          <a:xfrm>
            <a:off x="13234737" y="4326557"/>
            <a:ext cx="0" cy="62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2554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cxnSp>
        <p:nvCxnSpPr>
          <p:cNvPr id="22" name="Connecteur droit avec flèche 21">
            <a:extLst>
              <a:ext uri="{FF2B5EF4-FFF2-40B4-BE49-F238E27FC236}">
                <a16:creationId xmlns:a16="http://schemas.microsoft.com/office/drawing/2014/main" id="{1D8A8D89-6B70-4B1A-BEF9-348DD08E9736}"/>
              </a:ext>
            </a:extLst>
          </p:cNvPr>
          <p:cNvCxnSpPr/>
          <p:nvPr/>
        </p:nvCxnSpPr>
        <p:spPr>
          <a:xfrm>
            <a:off x="13234737" y="4326557"/>
            <a:ext cx="0" cy="62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8539FC0A-C93C-4701-A03F-81B6D2F7C81E}"/>
              </a:ext>
            </a:extLst>
          </p:cNvPr>
          <p:cNvPicPr>
            <a:picLocks noChangeAspect="1"/>
          </p:cNvPicPr>
          <p:nvPr/>
        </p:nvPicPr>
        <p:blipFill>
          <a:blip r:embed="rId2"/>
          <a:stretch>
            <a:fillRect/>
          </a:stretch>
        </p:blipFill>
        <p:spPr>
          <a:xfrm>
            <a:off x="0" y="0"/>
            <a:ext cx="12192000" cy="3850105"/>
          </a:xfrm>
          <a:prstGeom prst="rect">
            <a:avLst/>
          </a:prstGeom>
        </p:spPr>
      </p:pic>
      <p:pic>
        <p:nvPicPr>
          <p:cNvPr id="10" name="Image 9">
            <a:extLst>
              <a:ext uri="{FF2B5EF4-FFF2-40B4-BE49-F238E27FC236}">
                <a16:creationId xmlns:a16="http://schemas.microsoft.com/office/drawing/2014/main" id="{4FD42101-831D-4350-BEE3-42947B1B0ADA}"/>
              </a:ext>
            </a:extLst>
          </p:cNvPr>
          <p:cNvPicPr>
            <a:picLocks noChangeAspect="1"/>
          </p:cNvPicPr>
          <p:nvPr/>
        </p:nvPicPr>
        <p:blipFill>
          <a:blip r:embed="rId3"/>
          <a:stretch>
            <a:fillRect/>
          </a:stretch>
        </p:blipFill>
        <p:spPr>
          <a:xfrm>
            <a:off x="0" y="3850105"/>
            <a:ext cx="12192000" cy="3007895"/>
          </a:xfrm>
          <a:prstGeom prst="rect">
            <a:avLst/>
          </a:prstGeom>
        </p:spPr>
      </p:pic>
      <p:sp>
        <p:nvSpPr>
          <p:cNvPr id="11" name="Ellipse 10">
            <a:extLst>
              <a:ext uri="{FF2B5EF4-FFF2-40B4-BE49-F238E27FC236}">
                <a16:creationId xmlns:a16="http://schemas.microsoft.com/office/drawing/2014/main" id="{F6324451-1B78-490E-8715-3416E5C90064}"/>
              </a:ext>
            </a:extLst>
          </p:cNvPr>
          <p:cNvSpPr/>
          <p:nvPr/>
        </p:nvSpPr>
        <p:spPr>
          <a:xfrm>
            <a:off x="7902341" y="5727032"/>
            <a:ext cx="2156059" cy="94327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954900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cxnSp>
        <p:nvCxnSpPr>
          <p:cNvPr id="22" name="Connecteur droit avec flèche 21">
            <a:extLst>
              <a:ext uri="{FF2B5EF4-FFF2-40B4-BE49-F238E27FC236}">
                <a16:creationId xmlns:a16="http://schemas.microsoft.com/office/drawing/2014/main" id="{1D8A8D89-6B70-4B1A-BEF9-348DD08E9736}"/>
              </a:ext>
            </a:extLst>
          </p:cNvPr>
          <p:cNvCxnSpPr/>
          <p:nvPr/>
        </p:nvCxnSpPr>
        <p:spPr>
          <a:xfrm>
            <a:off x="13234737" y="4326557"/>
            <a:ext cx="0" cy="62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8539FC0A-C93C-4701-A03F-81B6D2F7C81E}"/>
              </a:ext>
            </a:extLst>
          </p:cNvPr>
          <p:cNvPicPr>
            <a:picLocks noChangeAspect="1"/>
          </p:cNvPicPr>
          <p:nvPr/>
        </p:nvPicPr>
        <p:blipFill>
          <a:blip r:embed="rId2"/>
          <a:stretch>
            <a:fillRect/>
          </a:stretch>
        </p:blipFill>
        <p:spPr>
          <a:xfrm>
            <a:off x="0" y="0"/>
            <a:ext cx="12192000" cy="3850105"/>
          </a:xfrm>
          <a:prstGeom prst="rect">
            <a:avLst/>
          </a:prstGeom>
        </p:spPr>
      </p:pic>
      <p:pic>
        <p:nvPicPr>
          <p:cNvPr id="10" name="Image 9">
            <a:extLst>
              <a:ext uri="{FF2B5EF4-FFF2-40B4-BE49-F238E27FC236}">
                <a16:creationId xmlns:a16="http://schemas.microsoft.com/office/drawing/2014/main" id="{4FD42101-831D-4350-BEE3-42947B1B0ADA}"/>
              </a:ext>
            </a:extLst>
          </p:cNvPr>
          <p:cNvPicPr>
            <a:picLocks noChangeAspect="1"/>
          </p:cNvPicPr>
          <p:nvPr/>
        </p:nvPicPr>
        <p:blipFill>
          <a:blip r:embed="rId3"/>
          <a:stretch>
            <a:fillRect/>
          </a:stretch>
        </p:blipFill>
        <p:spPr>
          <a:xfrm>
            <a:off x="0" y="3850105"/>
            <a:ext cx="12192000" cy="3007895"/>
          </a:xfrm>
          <a:prstGeom prst="rect">
            <a:avLst/>
          </a:prstGeom>
        </p:spPr>
      </p:pic>
      <p:sp>
        <p:nvSpPr>
          <p:cNvPr id="11" name="Ellipse 10">
            <a:extLst>
              <a:ext uri="{FF2B5EF4-FFF2-40B4-BE49-F238E27FC236}">
                <a16:creationId xmlns:a16="http://schemas.microsoft.com/office/drawing/2014/main" id="{F6324451-1B78-490E-8715-3416E5C90064}"/>
              </a:ext>
            </a:extLst>
          </p:cNvPr>
          <p:cNvSpPr/>
          <p:nvPr/>
        </p:nvSpPr>
        <p:spPr>
          <a:xfrm>
            <a:off x="7902341" y="5727032"/>
            <a:ext cx="2156059" cy="94327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81704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cxnSp>
        <p:nvCxnSpPr>
          <p:cNvPr id="22" name="Connecteur droit avec flèche 21">
            <a:extLst>
              <a:ext uri="{FF2B5EF4-FFF2-40B4-BE49-F238E27FC236}">
                <a16:creationId xmlns:a16="http://schemas.microsoft.com/office/drawing/2014/main" id="{1D8A8D89-6B70-4B1A-BEF9-348DD08E9736}"/>
              </a:ext>
            </a:extLst>
          </p:cNvPr>
          <p:cNvCxnSpPr/>
          <p:nvPr/>
        </p:nvCxnSpPr>
        <p:spPr>
          <a:xfrm>
            <a:off x="13234737" y="4326557"/>
            <a:ext cx="0" cy="62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Image 2">
            <a:extLst>
              <a:ext uri="{FF2B5EF4-FFF2-40B4-BE49-F238E27FC236}">
                <a16:creationId xmlns:a16="http://schemas.microsoft.com/office/drawing/2014/main" id="{7BDD0705-3139-4118-B3F1-5B6D92763EF6}"/>
              </a:ext>
            </a:extLst>
          </p:cNvPr>
          <p:cNvPicPr>
            <a:picLocks noChangeAspect="1"/>
          </p:cNvPicPr>
          <p:nvPr/>
        </p:nvPicPr>
        <p:blipFill>
          <a:blip r:embed="rId2"/>
          <a:stretch>
            <a:fillRect/>
          </a:stretch>
        </p:blipFill>
        <p:spPr>
          <a:xfrm>
            <a:off x="891032" y="1464254"/>
            <a:ext cx="4115011" cy="3448227"/>
          </a:xfrm>
          <a:prstGeom prst="rect">
            <a:avLst/>
          </a:prstGeom>
        </p:spPr>
      </p:pic>
      <p:sp>
        <p:nvSpPr>
          <p:cNvPr id="5" name="ZoneTexte 4">
            <a:extLst>
              <a:ext uri="{FF2B5EF4-FFF2-40B4-BE49-F238E27FC236}">
                <a16:creationId xmlns:a16="http://schemas.microsoft.com/office/drawing/2014/main" id="{A54E8017-C439-4BA9-ADCE-2FBD5B81A44E}"/>
              </a:ext>
            </a:extLst>
          </p:cNvPr>
          <p:cNvSpPr txBox="1"/>
          <p:nvPr/>
        </p:nvSpPr>
        <p:spPr>
          <a:xfrm>
            <a:off x="5284269" y="2967335"/>
            <a:ext cx="6776185" cy="461665"/>
          </a:xfrm>
          <a:prstGeom prst="rect">
            <a:avLst/>
          </a:prstGeom>
          <a:noFill/>
        </p:spPr>
        <p:txBody>
          <a:bodyPr wrap="square" rtlCol="0">
            <a:spAutoFit/>
          </a:bodyPr>
          <a:lstStyle/>
          <a:p>
            <a:r>
              <a:rPr lang="fr-FR" sz="2400" b="1" dirty="0"/>
              <a:t>URL </a:t>
            </a:r>
            <a:r>
              <a:rPr lang="fr-FR" sz="2400" b="1" dirty="0" err="1"/>
              <a:t>utilsé</a:t>
            </a:r>
            <a:r>
              <a:rPr lang="fr-FR" sz="2400" b="1" dirty="0"/>
              <a:t> pour faire un git clone ou un git </a:t>
            </a:r>
            <a:r>
              <a:rPr lang="fr-FR" sz="2400" b="1" dirty="0" err="1"/>
              <a:t>remote</a:t>
            </a:r>
            <a:r>
              <a:rPr lang="fr-FR" sz="2400" b="1" dirty="0"/>
              <a:t> </a:t>
            </a:r>
          </a:p>
        </p:txBody>
      </p:sp>
    </p:spTree>
    <p:extLst>
      <p:ext uri="{BB962C8B-B14F-4D97-AF65-F5344CB8AC3E}">
        <p14:creationId xmlns:p14="http://schemas.microsoft.com/office/powerpoint/2010/main" val="1627511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3661F58-6CB3-49C1-98AF-E180CD546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753"/>
            <a:ext cx="7344076" cy="2983833"/>
          </a:xfrm>
          <a:prstGeom prst="rect">
            <a:avLst/>
          </a:prstGeom>
        </p:spPr>
      </p:pic>
      <p:pic>
        <p:nvPicPr>
          <p:cNvPr id="21" name="Image 20">
            <a:extLst>
              <a:ext uri="{FF2B5EF4-FFF2-40B4-BE49-F238E27FC236}">
                <a16:creationId xmlns:a16="http://schemas.microsoft.com/office/drawing/2014/main" id="{33439C92-1C93-47DA-8657-8F6128072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26079"/>
            <a:ext cx="7344076" cy="3850105"/>
          </a:xfrm>
          <a:prstGeom prst="rect">
            <a:avLst/>
          </a:prstGeom>
        </p:spPr>
      </p:pic>
      <p:pic>
        <p:nvPicPr>
          <p:cNvPr id="23" name="Image 22">
            <a:extLst>
              <a:ext uri="{FF2B5EF4-FFF2-40B4-BE49-F238E27FC236}">
                <a16:creationId xmlns:a16="http://schemas.microsoft.com/office/drawing/2014/main" id="{0CEABD15-39FB-4E35-8B84-2C4064F3A2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4076" y="0"/>
            <a:ext cx="4847924" cy="1886047"/>
          </a:xfrm>
          <a:prstGeom prst="rect">
            <a:avLst/>
          </a:prstGeom>
        </p:spPr>
      </p:pic>
      <p:pic>
        <p:nvPicPr>
          <p:cNvPr id="25" name="Image 24">
            <a:extLst>
              <a:ext uri="{FF2B5EF4-FFF2-40B4-BE49-F238E27FC236}">
                <a16:creationId xmlns:a16="http://schemas.microsoft.com/office/drawing/2014/main" id="{919F0803-440D-41BB-84B1-3650341ACC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4076" y="1886047"/>
            <a:ext cx="4847924" cy="1352620"/>
          </a:xfrm>
          <a:prstGeom prst="rect">
            <a:avLst/>
          </a:prstGeom>
        </p:spPr>
      </p:pic>
      <p:pic>
        <p:nvPicPr>
          <p:cNvPr id="31" name="Image 30">
            <a:extLst>
              <a:ext uri="{FF2B5EF4-FFF2-40B4-BE49-F238E27FC236}">
                <a16:creationId xmlns:a16="http://schemas.microsoft.com/office/drawing/2014/main" id="{6A0DCE94-68C1-470D-857B-5BA69A4AE7E1}"/>
              </a:ext>
            </a:extLst>
          </p:cNvPr>
          <p:cNvPicPr>
            <a:picLocks noChangeAspect="1"/>
          </p:cNvPicPr>
          <p:nvPr/>
        </p:nvPicPr>
        <p:blipFill>
          <a:blip r:embed="rId6"/>
          <a:stretch>
            <a:fillRect/>
          </a:stretch>
        </p:blipFill>
        <p:spPr>
          <a:xfrm>
            <a:off x="9023187" y="2222262"/>
            <a:ext cx="3168813" cy="4635738"/>
          </a:xfrm>
          <a:prstGeom prst="rect">
            <a:avLst/>
          </a:prstGeom>
        </p:spPr>
      </p:pic>
      <p:sp>
        <p:nvSpPr>
          <p:cNvPr id="32" name="Rectangle 31">
            <a:extLst>
              <a:ext uri="{FF2B5EF4-FFF2-40B4-BE49-F238E27FC236}">
                <a16:creationId xmlns:a16="http://schemas.microsoft.com/office/drawing/2014/main" id="{D91457C0-EFBD-4C6D-A7CF-CDA821CDC122}"/>
              </a:ext>
            </a:extLst>
          </p:cNvPr>
          <p:cNvSpPr/>
          <p:nvPr/>
        </p:nvSpPr>
        <p:spPr>
          <a:xfrm>
            <a:off x="0" y="244488"/>
            <a:ext cx="924025" cy="44853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9AD31703-E6C6-4D8E-9414-3EEEE259DE39}"/>
              </a:ext>
            </a:extLst>
          </p:cNvPr>
          <p:cNvSpPr/>
          <p:nvPr/>
        </p:nvSpPr>
        <p:spPr>
          <a:xfrm>
            <a:off x="38501" y="3238667"/>
            <a:ext cx="1751798" cy="448531"/>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7BFFDE8B-72F8-4AE8-A17D-904493920B13}"/>
              </a:ext>
            </a:extLst>
          </p:cNvPr>
          <p:cNvSpPr/>
          <p:nvPr/>
        </p:nvSpPr>
        <p:spPr>
          <a:xfrm>
            <a:off x="9023187" y="2222262"/>
            <a:ext cx="1751798" cy="44853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35">
            <a:extLst>
              <a:ext uri="{FF2B5EF4-FFF2-40B4-BE49-F238E27FC236}">
                <a16:creationId xmlns:a16="http://schemas.microsoft.com/office/drawing/2014/main" id="{5DE7E79F-F8CC-47A9-85DA-271A0688576C}"/>
              </a:ext>
            </a:extLst>
          </p:cNvPr>
          <p:cNvSpPr/>
          <p:nvPr/>
        </p:nvSpPr>
        <p:spPr>
          <a:xfrm>
            <a:off x="77001" y="5188739"/>
            <a:ext cx="7170821" cy="539015"/>
          </a:xfrm>
          <a:prstGeom prst="rect">
            <a:avLst/>
          </a:prstGeom>
          <a:noFill/>
          <a:ln w="571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AA1FC4C4-6B51-4EF7-A515-27B5F410B6AD}"/>
              </a:ext>
            </a:extLst>
          </p:cNvPr>
          <p:cNvSpPr/>
          <p:nvPr/>
        </p:nvSpPr>
        <p:spPr>
          <a:xfrm>
            <a:off x="9115124" y="4425331"/>
            <a:ext cx="3076876" cy="763408"/>
          </a:xfrm>
          <a:prstGeom prst="rect">
            <a:avLst/>
          </a:prstGeom>
          <a:noFill/>
          <a:ln w="571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0" name="Connecteur droit avec flèche 39">
            <a:extLst>
              <a:ext uri="{FF2B5EF4-FFF2-40B4-BE49-F238E27FC236}">
                <a16:creationId xmlns:a16="http://schemas.microsoft.com/office/drawing/2014/main" id="{3ACE6E68-9D59-4E0D-868F-3682DF55FAF0}"/>
              </a:ext>
            </a:extLst>
          </p:cNvPr>
          <p:cNvCxnSpPr>
            <a:cxnSpLocks/>
          </p:cNvCxnSpPr>
          <p:nvPr/>
        </p:nvCxnSpPr>
        <p:spPr>
          <a:xfrm flipV="1">
            <a:off x="7339759" y="3238667"/>
            <a:ext cx="466329" cy="23247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3F1B2B63-E3AA-493D-8272-B211B27D261D}"/>
              </a:ext>
            </a:extLst>
          </p:cNvPr>
          <p:cNvCxnSpPr>
            <a:cxnSpLocks/>
          </p:cNvCxnSpPr>
          <p:nvPr/>
        </p:nvCxnSpPr>
        <p:spPr>
          <a:xfrm>
            <a:off x="8226944" y="3238667"/>
            <a:ext cx="796243" cy="14969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6" name="ZoneTexte 45">
            <a:extLst>
              <a:ext uri="{FF2B5EF4-FFF2-40B4-BE49-F238E27FC236}">
                <a16:creationId xmlns:a16="http://schemas.microsoft.com/office/drawing/2014/main" id="{25A9075F-5BF7-4CB7-A87E-CBBE5CA48F67}"/>
              </a:ext>
            </a:extLst>
          </p:cNvPr>
          <p:cNvSpPr txBox="1"/>
          <p:nvPr/>
        </p:nvSpPr>
        <p:spPr>
          <a:xfrm>
            <a:off x="7572923" y="5188739"/>
            <a:ext cx="1450264" cy="461665"/>
          </a:xfrm>
          <a:prstGeom prst="rect">
            <a:avLst/>
          </a:prstGeom>
          <a:noFill/>
        </p:spPr>
        <p:txBody>
          <a:bodyPr wrap="square" rtlCol="0">
            <a:spAutoFit/>
          </a:bodyPr>
          <a:lstStyle/>
          <a:p>
            <a:r>
              <a:rPr lang="fr-FR" sz="2400" b="1" dirty="0"/>
              <a:t>git merge</a:t>
            </a:r>
          </a:p>
        </p:txBody>
      </p:sp>
      <p:sp>
        <p:nvSpPr>
          <p:cNvPr id="47" name="ZoneTexte 46">
            <a:extLst>
              <a:ext uri="{FF2B5EF4-FFF2-40B4-BE49-F238E27FC236}">
                <a16:creationId xmlns:a16="http://schemas.microsoft.com/office/drawing/2014/main" id="{7A14245F-3CED-4354-8784-66D4EC748B84}"/>
              </a:ext>
            </a:extLst>
          </p:cNvPr>
          <p:cNvSpPr txBox="1"/>
          <p:nvPr/>
        </p:nvSpPr>
        <p:spPr>
          <a:xfrm>
            <a:off x="7590014" y="5757208"/>
            <a:ext cx="1450264" cy="461665"/>
          </a:xfrm>
          <a:prstGeom prst="rect">
            <a:avLst/>
          </a:prstGeom>
          <a:noFill/>
        </p:spPr>
        <p:txBody>
          <a:bodyPr wrap="square" rtlCol="0">
            <a:spAutoFit/>
          </a:bodyPr>
          <a:lstStyle/>
          <a:p>
            <a:r>
              <a:rPr lang="fr-FR" sz="2400" b="1" dirty="0"/>
              <a:t>git push</a:t>
            </a:r>
          </a:p>
        </p:txBody>
      </p:sp>
      <p:sp>
        <p:nvSpPr>
          <p:cNvPr id="48" name="ZoneTexte 47">
            <a:extLst>
              <a:ext uri="{FF2B5EF4-FFF2-40B4-BE49-F238E27FC236}">
                <a16:creationId xmlns:a16="http://schemas.microsoft.com/office/drawing/2014/main" id="{2F45CB8F-F2CD-4B3A-A360-C12168AC13A1}"/>
              </a:ext>
            </a:extLst>
          </p:cNvPr>
          <p:cNvSpPr txBox="1"/>
          <p:nvPr/>
        </p:nvSpPr>
        <p:spPr>
          <a:xfrm>
            <a:off x="7572923" y="4736526"/>
            <a:ext cx="1450264" cy="461665"/>
          </a:xfrm>
          <a:prstGeom prst="rect">
            <a:avLst/>
          </a:prstGeom>
          <a:noFill/>
        </p:spPr>
        <p:txBody>
          <a:bodyPr wrap="square" rtlCol="0">
            <a:spAutoFit/>
          </a:bodyPr>
          <a:lstStyle/>
          <a:p>
            <a:r>
              <a:rPr lang="fr-FR" sz="2400" b="1" dirty="0"/>
              <a:t>Suite à</a:t>
            </a:r>
          </a:p>
        </p:txBody>
      </p:sp>
    </p:spTree>
    <p:extLst>
      <p:ext uri="{BB962C8B-B14F-4D97-AF65-F5344CB8AC3E}">
        <p14:creationId xmlns:p14="http://schemas.microsoft.com/office/powerpoint/2010/main" val="568306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052" name="Picture 4" descr="Produits RStudio - Rtask">
            <a:extLst>
              <a:ext uri="{FF2B5EF4-FFF2-40B4-BE49-F238E27FC236}">
                <a16:creationId xmlns:a16="http://schemas.microsoft.com/office/drawing/2014/main" id="{E408BE64-A06A-48D9-9E01-6F20CE544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13" y="228600"/>
            <a:ext cx="3628725" cy="124851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07CA7A06-F410-4224-BDDF-C7FB420A96ED}"/>
              </a:ext>
            </a:extLst>
          </p:cNvPr>
          <p:cNvPicPr>
            <a:picLocks noChangeAspect="1"/>
          </p:cNvPicPr>
          <p:nvPr/>
        </p:nvPicPr>
        <p:blipFill>
          <a:blip r:embed="rId3"/>
          <a:stretch>
            <a:fillRect/>
          </a:stretch>
        </p:blipFill>
        <p:spPr>
          <a:xfrm>
            <a:off x="0" y="1477113"/>
            <a:ext cx="12192000" cy="5161812"/>
          </a:xfrm>
          <a:prstGeom prst="rect">
            <a:avLst/>
          </a:prstGeom>
        </p:spPr>
      </p:pic>
      <p:sp>
        <p:nvSpPr>
          <p:cNvPr id="7" name="Ellipse 6">
            <a:extLst>
              <a:ext uri="{FF2B5EF4-FFF2-40B4-BE49-F238E27FC236}">
                <a16:creationId xmlns:a16="http://schemas.microsoft.com/office/drawing/2014/main" id="{E7FD5888-29D4-4842-9787-5ED79490178C}"/>
              </a:ext>
            </a:extLst>
          </p:cNvPr>
          <p:cNvSpPr/>
          <p:nvPr/>
        </p:nvSpPr>
        <p:spPr>
          <a:xfrm>
            <a:off x="3267075" y="2533650"/>
            <a:ext cx="5067300" cy="8953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avec flèche 9">
            <a:extLst>
              <a:ext uri="{FF2B5EF4-FFF2-40B4-BE49-F238E27FC236}">
                <a16:creationId xmlns:a16="http://schemas.microsoft.com/office/drawing/2014/main" id="{74F34A98-F9E7-42B8-A56B-0F308D42CEC4}"/>
              </a:ext>
            </a:extLst>
          </p:cNvPr>
          <p:cNvCxnSpPr/>
          <p:nvPr/>
        </p:nvCxnSpPr>
        <p:spPr>
          <a:xfrm flipH="1">
            <a:off x="1000125" y="3429000"/>
            <a:ext cx="2352675" cy="11620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952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052" name="Picture 4" descr="Produits RStudio - Rtask">
            <a:extLst>
              <a:ext uri="{FF2B5EF4-FFF2-40B4-BE49-F238E27FC236}">
                <a16:creationId xmlns:a16="http://schemas.microsoft.com/office/drawing/2014/main" id="{E408BE64-A06A-48D9-9E01-6F20CE544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13" y="180976"/>
            <a:ext cx="3628725" cy="78105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C6A75FEC-20AB-46BB-9BB9-ACB4FE11D78F}"/>
              </a:ext>
            </a:extLst>
          </p:cNvPr>
          <p:cNvPicPr>
            <a:picLocks noChangeAspect="1"/>
          </p:cNvPicPr>
          <p:nvPr/>
        </p:nvPicPr>
        <p:blipFill>
          <a:blip r:embed="rId3"/>
          <a:stretch>
            <a:fillRect/>
          </a:stretch>
        </p:blipFill>
        <p:spPr>
          <a:xfrm>
            <a:off x="0" y="962026"/>
            <a:ext cx="6743701" cy="5943599"/>
          </a:xfrm>
          <a:prstGeom prst="rect">
            <a:avLst/>
          </a:prstGeom>
        </p:spPr>
      </p:pic>
      <p:pic>
        <p:nvPicPr>
          <p:cNvPr id="8" name="Image 7">
            <a:extLst>
              <a:ext uri="{FF2B5EF4-FFF2-40B4-BE49-F238E27FC236}">
                <a16:creationId xmlns:a16="http://schemas.microsoft.com/office/drawing/2014/main" id="{0525A6F9-5CF1-4587-A64B-DD7A51E92C01}"/>
              </a:ext>
            </a:extLst>
          </p:cNvPr>
          <p:cNvPicPr>
            <a:picLocks noChangeAspect="1"/>
          </p:cNvPicPr>
          <p:nvPr/>
        </p:nvPicPr>
        <p:blipFill>
          <a:blip r:embed="rId4"/>
          <a:stretch>
            <a:fillRect/>
          </a:stretch>
        </p:blipFill>
        <p:spPr>
          <a:xfrm>
            <a:off x="5838825" y="1"/>
            <a:ext cx="6353175" cy="3086100"/>
          </a:xfrm>
          <a:prstGeom prst="rect">
            <a:avLst/>
          </a:prstGeom>
        </p:spPr>
      </p:pic>
      <p:pic>
        <p:nvPicPr>
          <p:cNvPr id="10" name="Image 9">
            <a:extLst>
              <a:ext uri="{FF2B5EF4-FFF2-40B4-BE49-F238E27FC236}">
                <a16:creationId xmlns:a16="http://schemas.microsoft.com/office/drawing/2014/main" id="{37D168BA-C288-4B6A-869C-B84F6E305A37}"/>
              </a:ext>
            </a:extLst>
          </p:cNvPr>
          <p:cNvPicPr>
            <a:picLocks noChangeAspect="1"/>
          </p:cNvPicPr>
          <p:nvPr/>
        </p:nvPicPr>
        <p:blipFill>
          <a:blip r:embed="rId5"/>
          <a:stretch>
            <a:fillRect/>
          </a:stretch>
        </p:blipFill>
        <p:spPr>
          <a:xfrm>
            <a:off x="4117560" y="2790825"/>
            <a:ext cx="8103016" cy="3956197"/>
          </a:xfrm>
          <a:prstGeom prst="rect">
            <a:avLst/>
          </a:prstGeom>
        </p:spPr>
      </p:pic>
      <p:sp>
        <p:nvSpPr>
          <p:cNvPr id="11" name="Ellipse 10">
            <a:extLst>
              <a:ext uri="{FF2B5EF4-FFF2-40B4-BE49-F238E27FC236}">
                <a16:creationId xmlns:a16="http://schemas.microsoft.com/office/drawing/2014/main" id="{2E62AA0C-3A0C-4AC9-A05A-53A760A9F397}"/>
              </a:ext>
            </a:extLst>
          </p:cNvPr>
          <p:cNvSpPr/>
          <p:nvPr/>
        </p:nvSpPr>
        <p:spPr>
          <a:xfrm>
            <a:off x="971549" y="1543051"/>
            <a:ext cx="10287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E99B740D-704D-4C8B-A756-D91A05CC204B}"/>
              </a:ext>
            </a:extLst>
          </p:cNvPr>
          <p:cNvSpPr/>
          <p:nvPr/>
        </p:nvSpPr>
        <p:spPr>
          <a:xfrm>
            <a:off x="76200" y="4933950"/>
            <a:ext cx="404136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A7FD6B34-ACDD-4831-9A7B-462E4DE8F11F}"/>
              </a:ext>
            </a:extLst>
          </p:cNvPr>
          <p:cNvSpPr/>
          <p:nvPr/>
        </p:nvSpPr>
        <p:spPr>
          <a:xfrm rot="20719912">
            <a:off x="5662614" y="1713611"/>
            <a:ext cx="2190750" cy="96801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5" name="Connecteur droit avec flèche 14">
            <a:extLst>
              <a:ext uri="{FF2B5EF4-FFF2-40B4-BE49-F238E27FC236}">
                <a16:creationId xmlns:a16="http://schemas.microsoft.com/office/drawing/2014/main" id="{7BECE374-CC31-4E27-A818-DB7DB9033486}"/>
              </a:ext>
            </a:extLst>
          </p:cNvPr>
          <p:cNvCxnSpPr/>
          <p:nvPr/>
        </p:nvCxnSpPr>
        <p:spPr>
          <a:xfrm flipV="1">
            <a:off x="3705225" y="2714625"/>
            <a:ext cx="2038350" cy="20542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A6722406-C374-466A-8CAF-65AB5E700AE4}"/>
              </a:ext>
            </a:extLst>
          </p:cNvPr>
          <p:cNvCxnSpPr/>
          <p:nvPr/>
        </p:nvCxnSpPr>
        <p:spPr>
          <a:xfrm>
            <a:off x="6886575" y="2790825"/>
            <a:ext cx="904875" cy="15335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98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FF3826D-FAE8-4E6E-9ADE-851892A69501}"/>
              </a:ext>
            </a:extLst>
          </p:cNvPr>
          <p:cNvPicPr>
            <a:picLocks noChangeAspect="1"/>
          </p:cNvPicPr>
          <p:nvPr/>
        </p:nvPicPr>
        <p:blipFill>
          <a:blip r:embed="rId2"/>
          <a:stretch>
            <a:fillRect/>
          </a:stretch>
        </p:blipFill>
        <p:spPr>
          <a:xfrm>
            <a:off x="91824" y="720591"/>
            <a:ext cx="9741401" cy="4832484"/>
          </a:xfrm>
          <a:prstGeom prst="rect">
            <a:avLst/>
          </a:prstGeom>
        </p:spPr>
      </p:pic>
      <p:cxnSp>
        <p:nvCxnSpPr>
          <p:cNvPr id="8" name="Connecteur droit avec flèche 7">
            <a:extLst>
              <a:ext uri="{FF2B5EF4-FFF2-40B4-BE49-F238E27FC236}">
                <a16:creationId xmlns:a16="http://schemas.microsoft.com/office/drawing/2014/main" id="{25E7ED9C-B3B6-4B9C-AD82-ACD156C6E416}"/>
              </a:ext>
            </a:extLst>
          </p:cNvPr>
          <p:cNvCxnSpPr/>
          <p:nvPr/>
        </p:nvCxnSpPr>
        <p:spPr>
          <a:xfrm>
            <a:off x="5753100" y="914400"/>
            <a:ext cx="742950" cy="7429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EA6FEF21-8DE1-4B2F-878E-8AF638D20AB1}"/>
              </a:ext>
            </a:extLst>
          </p:cNvPr>
          <p:cNvSpPr/>
          <p:nvPr/>
        </p:nvSpPr>
        <p:spPr>
          <a:xfrm>
            <a:off x="7486650" y="1190625"/>
            <a:ext cx="952500" cy="74294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DC9CCE6F-ED61-438A-9818-7757C27011FC}"/>
              </a:ext>
            </a:extLst>
          </p:cNvPr>
          <p:cNvPicPr>
            <a:picLocks noChangeAspect="1"/>
          </p:cNvPicPr>
          <p:nvPr/>
        </p:nvPicPr>
        <p:blipFill>
          <a:blip r:embed="rId3"/>
          <a:stretch>
            <a:fillRect/>
          </a:stretch>
        </p:blipFill>
        <p:spPr>
          <a:xfrm>
            <a:off x="0" y="3009702"/>
            <a:ext cx="9550891" cy="3848298"/>
          </a:xfrm>
          <a:prstGeom prst="rect">
            <a:avLst/>
          </a:prstGeom>
        </p:spPr>
      </p:pic>
      <p:pic>
        <p:nvPicPr>
          <p:cNvPr id="15" name="Picture 4" descr="Produits RStudio - Rtask">
            <a:extLst>
              <a:ext uri="{FF2B5EF4-FFF2-40B4-BE49-F238E27FC236}">
                <a16:creationId xmlns:a16="http://schemas.microsoft.com/office/drawing/2014/main" id="{BB77918A-7972-4932-8030-A7715AA0E6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13" y="12433"/>
            <a:ext cx="3628725" cy="73342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necteur droit avec flèche 15">
            <a:extLst>
              <a:ext uri="{FF2B5EF4-FFF2-40B4-BE49-F238E27FC236}">
                <a16:creationId xmlns:a16="http://schemas.microsoft.com/office/drawing/2014/main" id="{4C3C95BE-9DDA-489B-AAD2-823212E1F76D}"/>
              </a:ext>
            </a:extLst>
          </p:cNvPr>
          <p:cNvCxnSpPr>
            <a:cxnSpLocks/>
          </p:cNvCxnSpPr>
          <p:nvPr/>
        </p:nvCxnSpPr>
        <p:spPr>
          <a:xfrm flipV="1">
            <a:off x="8724900" y="4076601"/>
            <a:ext cx="228600" cy="111452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Ellipse 17">
            <a:extLst>
              <a:ext uri="{FF2B5EF4-FFF2-40B4-BE49-F238E27FC236}">
                <a16:creationId xmlns:a16="http://schemas.microsoft.com/office/drawing/2014/main" id="{D030E429-2662-48FE-BD58-86852FFC3F13}"/>
              </a:ext>
            </a:extLst>
          </p:cNvPr>
          <p:cNvSpPr/>
          <p:nvPr/>
        </p:nvSpPr>
        <p:spPr>
          <a:xfrm>
            <a:off x="8143875" y="3209925"/>
            <a:ext cx="1498840" cy="82877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25747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056" name="Picture 8" descr="Vscode Logo Png - lizin.org">
            <a:extLst>
              <a:ext uri="{FF2B5EF4-FFF2-40B4-BE49-F238E27FC236}">
                <a16:creationId xmlns:a16="http://schemas.microsoft.com/office/drawing/2014/main" id="{80A3F771-46FA-48EB-892E-4E6973F33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33" y="71488"/>
            <a:ext cx="1711392" cy="90958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5D26F93E-EB1F-4395-8EE2-1C0DB52238C6}"/>
              </a:ext>
            </a:extLst>
          </p:cNvPr>
          <p:cNvPicPr>
            <a:picLocks noChangeAspect="1"/>
          </p:cNvPicPr>
          <p:nvPr/>
        </p:nvPicPr>
        <p:blipFill>
          <a:blip r:embed="rId3"/>
          <a:stretch>
            <a:fillRect/>
          </a:stretch>
        </p:blipFill>
        <p:spPr>
          <a:xfrm>
            <a:off x="0" y="1447800"/>
            <a:ext cx="8305800" cy="5213350"/>
          </a:xfrm>
          <a:prstGeom prst="rect">
            <a:avLst/>
          </a:prstGeom>
        </p:spPr>
      </p:pic>
      <p:pic>
        <p:nvPicPr>
          <p:cNvPr id="5" name="Image 4">
            <a:extLst>
              <a:ext uri="{FF2B5EF4-FFF2-40B4-BE49-F238E27FC236}">
                <a16:creationId xmlns:a16="http://schemas.microsoft.com/office/drawing/2014/main" id="{E60FEED6-3F38-4DDE-BD7B-84CF23B0FEE5}"/>
              </a:ext>
            </a:extLst>
          </p:cNvPr>
          <p:cNvPicPr>
            <a:picLocks noChangeAspect="1"/>
          </p:cNvPicPr>
          <p:nvPr/>
        </p:nvPicPr>
        <p:blipFill>
          <a:blip r:embed="rId4"/>
          <a:stretch>
            <a:fillRect/>
          </a:stretch>
        </p:blipFill>
        <p:spPr>
          <a:xfrm>
            <a:off x="6000750" y="1447800"/>
            <a:ext cx="6191250" cy="5343665"/>
          </a:xfrm>
          <a:prstGeom prst="rect">
            <a:avLst/>
          </a:prstGeom>
        </p:spPr>
      </p:pic>
      <p:pic>
        <p:nvPicPr>
          <p:cNvPr id="9" name="Image 8">
            <a:extLst>
              <a:ext uri="{FF2B5EF4-FFF2-40B4-BE49-F238E27FC236}">
                <a16:creationId xmlns:a16="http://schemas.microsoft.com/office/drawing/2014/main" id="{D9E9E10B-3CA6-40D7-BFA9-FCCDAA66652E}"/>
              </a:ext>
            </a:extLst>
          </p:cNvPr>
          <p:cNvPicPr>
            <a:picLocks noChangeAspect="1"/>
          </p:cNvPicPr>
          <p:nvPr/>
        </p:nvPicPr>
        <p:blipFill>
          <a:blip r:embed="rId5"/>
          <a:stretch>
            <a:fillRect/>
          </a:stretch>
        </p:blipFill>
        <p:spPr>
          <a:xfrm>
            <a:off x="6000750" y="0"/>
            <a:ext cx="6191250" cy="1447800"/>
          </a:xfrm>
          <a:prstGeom prst="rect">
            <a:avLst/>
          </a:prstGeom>
        </p:spPr>
      </p:pic>
    </p:spTree>
    <p:extLst>
      <p:ext uri="{BB962C8B-B14F-4D97-AF65-F5344CB8AC3E}">
        <p14:creationId xmlns:p14="http://schemas.microsoft.com/office/powerpoint/2010/main" val="2611794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EE9D03F-D07B-4D5B-9E8C-99C45E024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693683"/>
            <a:ext cx="6858000" cy="5143500"/>
          </a:xfrm>
          <a:prstGeom prst="rect">
            <a:avLst/>
          </a:prstGeom>
        </p:spPr>
      </p:pic>
    </p:spTree>
    <p:extLst>
      <p:ext uri="{BB962C8B-B14F-4D97-AF65-F5344CB8AC3E}">
        <p14:creationId xmlns:p14="http://schemas.microsoft.com/office/powerpoint/2010/main" val="15747607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24262</TotalTime>
  <Words>853</Words>
  <Application>Microsoft Office PowerPoint</Application>
  <PresentationFormat>Grand écran</PresentationFormat>
  <Paragraphs>83</Paragraphs>
  <Slides>26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Arial</vt:lpstr>
      <vt:lpstr>Calibri</vt:lpstr>
      <vt:lpstr>Calibri Light</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hp</dc:creator>
  <cp:lastModifiedBy>Cheikh Doumbia</cp:lastModifiedBy>
  <cp:revision>238</cp:revision>
  <dcterms:created xsi:type="dcterms:W3CDTF">2024-10-12T22:25:01Z</dcterms:created>
  <dcterms:modified xsi:type="dcterms:W3CDTF">2025-10-31T20:04:34Z</dcterms:modified>
</cp:coreProperties>
</file>